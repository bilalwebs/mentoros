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judges. MentorOS is an AI student growth platform we built for the Qwen Global AI Hackathon, Track 1: MemoryAgent. The one-line pitch: it's a mentor that actually remembers you. Introduce the team briefly and set up the story we're about to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real student using an AI mentor across a week. Monday, she explains her whole background — major, skills, career goals. Wednesday, the AI has no idea who she is. Friday, she's introducing herself again. This is the actual experience of every stateless chatbot today: no memory means no relationship, and no relationship means no real mentorship.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 that MentorOS is built around. It's tempting to think the challenge is making a smarter model — but a smarter stateless model still forgets everything the moment the session ends. Personalization isn't a prompting trick. It requires a system of record: facts that persist, get weighted, and evolve as the student grows. That system is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MentorOS is a full-stack platform built around four pillars. Persistent memory is the foundation — every fact about a student is stored and retrievable. On top of that we get cross-session personalization, so advice compounds instead of resetting. Resume intelligence uses Qwen to turn an uploaded PDF into structured skills and projects. And career guidance ties it together with roadmaps grounded in the student's actual history, not generic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request path, end to end. A student sends a message through the Next.js frontend to our FastAPI backend. Before anything else, the Memory Engine retrieves relevant facts — skills, goals, past conversations — from ChromaDB using similarity search re-ranked by importance. That context, plus the new message, goes to Qwen. Qwen reasons over real history instead of a blank slate, and the response comes back personalized. Nothing here is generic — it's grounded in what we actually know about that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MentorOS, and the most important slide in the deck. Every fact goes through seven stages. It's created, embedded into ChromaDB, and scored for importance. On retrieval, we run cosine-similarity search re-ranked by that importance score. Facts get updated through supersession — a new career goal replaces the old one, but the old one is preserved, not deleted. Low-importance memories decay over time, archived automatically on login. And finally, the right memory is recalled at the right moment, inside the answer itself. This lifecycle is what turns a chatbot into a mentor.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product, not a mockup for the pitch. The dashboard surfaces skills, goals, and live memory statistics — active, superseded, archived. Resume upload runs a PDF through Qwen's structured extraction straight into the real domain tables and memory. The memory timeline makes the mentor's evolving knowledge visible to the student. AI recommendations — roadmap, skill-gap analysis, project ideas — are all grounded in retrieved memory, not generic prompts. And career goals use supersession, so history is never lost, only superseded.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the difference is stark. Traditional AI mentors have no memory, so students repeat themselves every session and get generic advice no matter how many times they've talked to it. MentorOS carries persistent memory across every session, so recommendations are personalized from the very first message and stay context-aware and adaptive as the student's goals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engine we built isn't specific to career mentorship — it's a foundation. Universities can offer scaled, persistent career services. Students get a mentor that genuinely knows their journey. EdTech platforms can plug memory in as a personalization layer. And career platforms can ground recommendations in real history instead of a form students fill out once. The seven-stage lifecycle already running today is what makes every one of these futures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MentorOS was built by a two-person team. I led backend and AI systems — the FastAPI service, Qwen integration, ChromaDB, authentication, the memory engine itself, the AI recommendation system, and deployment. Noor led everything that makes the product understandable and reliable: this presentation, the UI/UX, documentation, and testing — including demo prep and quality assurance. Small team, full-stack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MentorOS solves the memory problem at the root, with a real seven-stage memory engine powering persistent, personalized mentorship. We'd love to walk you through the live demo and the codebase, and we're happy to take any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image" Target="../media/image-5-6.png"/><Relationship Id="rId7" Type="http://schemas.openxmlformats.org/officeDocument/2006/relationships/image" Target="../media/image-5-3.png"/><Relationship Id="rId8" Type="http://schemas.openxmlformats.org/officeDocument/2006/relationships/image" Target="../media/image-5-8.png"/><Relationship Id="rId9" Type="http://schemas.openxmlformats.org/officeDocument/2006/relationships/image" Target="../media/image-5-3.png"/><Relationship Id="rId10" Type="http://schemas.openxmlformats.org/officeDocument/2006/relationships/image" Target="../media/image-5-10.png"/><Relationship Id="rId11" Type="http://schemas.openxmlformats.org/officeDocument/2006/relationships/image" Target="../media/image-5-3.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5.png"/><Relationship Id="rId7" Type="http://schemas.openxmlformats.org/officeDocument/2006/relationships/image" Target="../media/image-8-5.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85800"/>
            <a:ext cx="9144000" cy="365760"/>
          </a:xfrm>
          <a:prstGeom prst="rect">
            <a:avLst/>
          </a:prstGeom>
          <a:noFill/>
          <a:ln/>
        </p:spPr>
        <p:txBody>
          <a:bodyPr wrap="square" rtlCol="0" anchor="ctr"/>
          <a:lstStyle/>
          <a:p>
            <a:pPr indent="0" marL="0">
              <a:buNone/>
            </a:pPr>
            <a:r>
              <a:rPr lang="en-US" sz="1300" b="1" spc="200" kern="0" dirty="0">
                <a:solidFill>
                  <a:srgbClr val="A855F7"/>
                </a:solidFill>
                <a:latin typeface="Calibri" pitchFamily="34" charset="0"/>
                <a:ea typeface="Calibri" pitchFamily="34" charset="-122"/>
                <a:cs typeface="Calibri" pitchFamily="34" charset="-120"/>
              </a:rPr>
              <a:t>QWEN GLOBAL AI HACKATHON  ·  TRACK 1: MEMORYAGENT</a:t>
            </a:r>
            <a:endParaRPr lang="en-US" sz="1300" dirty="0"/>
          </a:p>
        </p:txBody>
      </p:sp>
      <p:sp>
        <p:nvSpPr>
          <p:cNvPr id="3" name="Text 1"/>
          <p:cNvSpPr/>
          <p:nvPr/>
        </p:nvSpPr>
        <p:spPr>
          <a:xfrm>
            <a:off x="777240" y="1920240"/>
            <a:ext cx="10515600" cy="1554480"/>
          </a:xfrm>
          <a:prstGeom prst="rect">
            <a:avLst/>
          </a:prstGeom>
          <a:noFill/>
          <a:ln/>
        </p:spPr>
        <p:txBody>
          <a:bodyPr wrap="square" lIns="0" tIns="0" rIns="0" bIns="0" rtlCol="0" anchor="ctr"/>
          <a:lstStyle/>
          <a:p>
            <a:pPr indent="0" marL="0">
              <a:buNone/>
            </a:pPr>
            <a:r>
              <a:rPr lang="en-US" sz="9200" b="1" dirty="0">
                <a:solidFill>
                  <a:srgbClr val="FFFFFF"/>
                </a:solidFill>
                <a:latin typeface="Cambria" pitchFamily="34" charset="0"/>
                <a:ea typeface="Cambria" pitchFamily="34" charset="-122"/>
                <a:cs typeface="Cambria" pitchFamily="34" charset="-120"/>
              </a:rPr>
              <a:t>MentorOS</a:t>
            </a:r>
            <a:endParaRPr lang="en-US" sz="9200" dirty="0"/>
          </a:p>
        </p:txBody>
      </p:sp>
      <p:sp>
        <p:nvSpPr>
          <p:cNvPr id="4" name="Text 2"/>
          <p:cNvSpPr/>
          <p:nvPr/>
        </p:nvSpPr>
        <p:spPr>
          <a:xfrm>
            <a:off x="822960" y="3429000"/>
            <a:ext cx="8686800" cy="640080"/>
          </a:xfrm>
          <a:prstGeom prst="rect">
            <a:avLst/>
          </a:prstGeom>
          <a:noFill/>
          <a:ln/>
        </p:spPr>
        <p:txBody>
          <a:bodyPr wrap="square" rtlCol="0" anchor="ctr"/>
          <a:lstStyle/>
          <a:p>
            <a:pPr indent="0" marL="0">
              <a:buNone/>
            </a:pPr>
            <a:r>
              <a:rPr lang="en-US" sz="2400" dirty="0">
                <a:solidFill>
                  <a:srgbClr val="C7CEE6"/>
                </a:solidFill>
                <a:latin typeface="Calibri" pitchFamily="34" charset="0"/>
                <a:ea typeface="Calibri" pitchFamily="34" charset="-122"/>
                <a:cs typeface="Calibri" pitchFamily="34" charset="-120"/>
              </a:rPr>
              <a:t>AI Student Growth Platform with Persistent Memory</a:t>
            </a:r>
            <a:endParaRPr lang="en-US" sz="2400" dirty="0"/>
          </a:p>
        </p:txBody>
      </p:sp>
      <p:sp>
        <p:nvSpPr>
          <p:cNvPr id="5" name="Shape 3"/>
          <p:cNvSpPr/>
          <p:nvPr/>
        </p:nvSpPr>
        <p:spPr>
          <a:xfrm>
            <a:off x="822960" y="4343400"/>
            <a:ext cx="3246120" cy="502920"/>
          </a:xfrm>
          <a:prstGeom prst="roundRect">
            <a:avLst>
              <a:gd name="adj" fmla="val 50909"/>
            </a:avLst>
          </a:prstGeom>
          <a:solidFill>
            <a:srgbClr val="241854"/>
          </a:solidFill>
          <a:ln w="12700">
            <a:solidFill>
              <a:srgbClr val="6D5BD0"/>
            </a:solidFill>
            <a:prstDash val="solid"/>
          </a:ln>
        </p:spPr>
      </p:sp>
      <p:sp>
        <p:nvSpPr>
          <p:cNvPr id="6" name="Text 4"/>
          <p:cNvSpPr/>
          <p:nvPr/>
        </p:nvSpPr>
        <p:spPr>
          <a:xfrm>
            <a:off x="822960" y="4343400"/>
            <a:ext cx="3246120" cy="502920"/>
          </a:xfrm>
          <a:prstGeom prst="rect">
            <a:avLst/>
          </a:prstGeom>
          <a:noFill/>
          <a:ln/>
        </p:spPr>
        <p:txBody>
          <a:bodyPr wrap="square" rtlCol="0" anchor="ctr"/>
          <a:lstStyle/>
          <a:p>
            <a:pPr algn="ctr" indent="0" marL="0">
              <a:buNone/>
            </a:pPr>
            <a:r>
              <a:rPr lang="en-US" sz="1300" b="1" dirty="0">
                <a:solidFill>
                  <a:srgbClr val="A855F7"/>
                </a:solidFill>
                <a:latin typeface="Calibri" pitchFamily="34" charset="0"/>
                <a:ea typeface="Calibri" pitchFamily="34" charset="-122"/>
                <a:cs typeface="Calibri" pitchFamily="34" charset="-120"/>
              </a:rPr>
              <a:t>Persistent Memory Engine</a:t>
            </a:r>
            <a:endParaRPr lang="en-US" sz="1300" dirty="0"/>
          </a:p>
        </p:txBody>
      </p:sp>
      <p:sp>
        <p:nvSpPr>
          <p:cNvPr id="7" name="Shape 5"/>
          <p:cNvSpPr/>
          <p:nvPr/>
        </p:nvSpPr>
        <p:spPr>
          <a:xfrm>
            <a:off x="4206240" y="4343400"/>
            <a:ext cx="1920240" cy="502920"/>
          </a:xfrm>
          <a:prstGeom prst="roundRect">
            <a:avLst>
              <a:gd name="adj" fmla="val 50909"/>
            </a:avLst>
          </a:prstGeom>
          <a:solidFill>
            <a:srgbClr val="0E2547"/>
          </a:solidFill>
          <a:ln w="12700">
            <a:solidFill>
              <a:srgbClr val="3E6FB8"/>
            </a:solidFill>
            <a:prstDash val="solid"/>
          </a:ln>
        </p:spPr>
      </p:sp>
      <p:sp>
        <p:nvSpPr>
          <p:cNvPr id="8" name="Text 6"/>
          <p:cNvSpPr/>
          <p:nvPr/>
        </p:nvSpPr>
        <p:spPr>
          <a:xfrm>
            <a:off x="4206240" y="4343400"/>
            <a:ext cx="1920240" cy="502920"/>
          </a:xfrm>
          <a:prstGeom prst="rect">
            <a:avLst/>
          </a:prstGeom>
          <a:noFill/>
          <a:ln/>
        </p:spPr>
        <p:txBody>
          <a:bodyPr wrap="square"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FastAPI · Qwen</a:t>
            </a:r>
            <a:endParaRPr lang="en-US" sz="1300" dirty="0"/>
          </a:p>
        </p:txBody>
      </p:sp>
      <p:sp>
        <p:nvSpPr>
          <p:cNvPr id="9" name="Text 7"/>
          <p:cNvSpPr/>
          <p:nvPr/>
        </p:nvSpPr>
        <p:spPr>
          <a:xfrm>
            <a:off x="822960" y="6035040"/>
            <a:ext cx="3657600" cy="365760"/>
          </a:xfrm>
          <a:prstGeom prst="rect">
            <a:avLst/>
          </a:prstGeom>
          <a:noFill/>
          <a:ln/>
        </p:spPr>
        <p:txBody>
          <a:bodyPr wrap="square" rtlCol="0" anchor="ctr"/>
          <a:lstStyle/>
          <a:p>
            <a:pPr indent="0" marL="0">
              <a:buNone/>
            </a:pPr>
            <a:r>
              <a:rPr lang="en-US" sz="1300" dirty="0">
                <a:solidFill>
                  <a:srgbClr val="9CA6C9"/>
                </a:solidFill>
                <a:latin typeface="Calibri" pitchFamily="34" charset="0"/>
                <a:ea typeface="Calibri" pitchFamily="34" charset="-122"/>
                <a:cs typeface="Calibri" pitchFamily="34" charset="-120"/>
              </a:rPr>
              <a:t>Team MentorOS</a:t>
            </a:r>
            <a:endParaRPr lang="en-US" sz="1300" dirty="0"/>
          </a:p>
        </p:txBody>
      </p:sp>
      <p:sp>
        <p:nvSpPr>
          <p:cNvPr id="10" name="Text 8"/>
          <p:cNvSpPr/>
          <p:nvPr/>
        </p:nvSpPr>
        <p:spPr>
          <a:xfrm>
            <a:off x="7708392" y="6035040"/>
            <a:ext cx="3657600" cy="365760"/>
          </a:xfrm>
          <a:prstGeom prst="rect">
            <a:avLst/>
          </a:prstGeom>
          <a:noFill/>
          <a:ln/>
        </p:spPr>
        <p:txBody>
          <a:bodyPr wrap="square" rtlCol="0" anchor="ctr"/>
          <a:lstStyle/>
          <a:p>
            <a:pPr algn="r" indent="0" marL="0">
              <a:buNone/>
            </a:pPr>
            <a:r>
              <a:rPr lang="en-US" sz="1300" dirty="0">
                <a:solidFill>
                  <a:srgbClr val="9CA6C9"/>
                </a:solidFill>
                <a:latin typeface="Calibri" pitchFamily="34" charset="0"/>
                <a:ea typeface="Calibri" pitchFamily="34" charset="-122"/>
                <a:cs typeface="Calibri" pitchFamily="34" charset="-120"/>
              </a:rPr>
              <a:t>mentoros.app  ·  github.com/mentoros</a:t>
            </a:r>
            <a:endParaRPr lang="en-US" sz="1300" dirty="0"/>
          </a:p>
        </p:txBody>
      </p:sp>
      <p:pic>
        <p:nvPicPr>
          <p:cNvPr id="11" name="Image 0" descr="assets/ic_brain.png">    </p:cNvPr>
          <p:cNvPicPr>
            <a:picLocks noChangeAspect="1"/>
          </p:cNvPicPr>
          <p:nvPr/>
        </p:nvPicPr>
        <p:blipFill>
          <a:blip r:embed="rId2">
            <a:alphaModFix amt="92000"/>
          </a:blip>
          <a:stretch>
            <a:fillRect/>
          </a:stretch>
        </p:blipFill>
        <p:spPr>
          <a:xfrm>
            <a:off x="9646920" y="146304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FB923C"/>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822960" y="1051560"/>
            <a:ext cx="7589520" cy="11887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Traditional AI forgets students.</a:t>
            </a:r>
            <a:endParaRPr lang="en-US" sz="4000" dirty="0"/>
          </a:p>
        </p:txBody>
      </p:sp>
      <p:sp>
        <p:nvSpPr>
          <p:cNvPr id="4" name="Text 2"/>
          <p:cNvSpPr/>
          <p:nvPr/>
        </p:nvSpPr>
        <p:spPr>
          <a:xfrm>
            <a:off x="822960" y="1965960"/>
            <a:ext cx="7589520" cy="548640"/>
          </a:xfrm>
          <a:prstGeom prst="rect">
            <a:avLst/>
          </a:prstGeom>
          <a:noFill/>
          <a:ln/>
        </p:spPr>
        <p:txBody>
          <a:bodyPr wrap="square" rtlCol="0" anchor="ctr"/>
          <a:lstStyle/>
          <a:p>
            <a:pPr indent="0" marL="0">
              <a:buNone/>
            </a:pPr>
            <a:r>
              <a:rPr lang="en-US" sz="1900" i="1" dirty="0">
                <a:solidFill>
                  <a:srgbClr val="C7CEE6"/>
                </a:solidFill>
                <a:latin typeface="Calibri" pitchFamily="34" charset="0"/>
                <a:ea typeface="Calibri" pitchFamily="34" charset="-122"/>
                <a:cs typeface="Calibri" pitchFamily="34" charset="-120"/>
              </a:rPr>
              <a:t>Every conversation starts from zero.</a:t>
            </a:r>
            <a:endParaRPr lang="en-US" sz="1900" dirty="0"/>
          </a:p>
        </p:txBody>
      </p:sp>
      <p:sp>
        <p:nvSpPr>
          <p:cNvPr id="5" name="Shape 3"/>
          <p:cNvSpPr/>
          <p:nvPr/>
        </p:nvSpPr>
        <p:spPr>
          <a:xfrm>
            <a:off x="822960" y="2880360"/>
            <a:ext cx="3310128" cy="2331720"/>
          </a:xfrm>
          <a:prstGeom prst="roundRect">
            <a:avLst>
              <a:gd name="adj" fmla="val 5490"/>
            </a:avLst>
          </a:prstGeom>
          <a:solidFill>
            <a:srgbClr val="0E2547"/>
          </a:solidFill>
          <a:ln w="12700">
            <a:solidFill>
              <a:srgbClr val="2A4A7A"/>
            </a:solidFill>
            <a:prstDash val="solid"/>
          </a:ln>
          <a:effectLst>
            <a:outerShdw sx="100000" sy="100000" kx="0" ky="0" algn="bl" rotWithShape="0" blurRad="152400" dist="38100" dir="5400000">
              <a:srgbClr val="000000">
                <a:alpha val="35000"/>
              </a:srgbClr>
            </a:outerShdw>
          </a:effectLst>
        </p:spPr>
      </p:sp>
      <p:sp>
        <p:nvSpPr>
          <p:cNvPr id="6" name="Text 4"/>
          <p:cNvSpPr/>
          <p:nvPr/>
        </p:nvSpPr>
        <p:spPr>
          <a:xfrm>
            <a:off x="1051560" y="3063240"/>
            <a:ext cx="2852928" cy="320040"/>
          </a:xfrm>
          <a:prstGeom prst="rect">
            <a:avLst/>
          </a:prstGeom>
          <a:noFill/>
          <a:ln/>
        </p:spPr>
        <p:txBody>
          <a:bodyPr wrap="square" rtlCol="0" anchor="ctr"/>
          <a:lstStyle/>
          <a:p>
            <a:pPr indent="0" marL="0">
              <a:buNone/>
            </a:pPr>
            <a:r>
              <a:rPr lang="en-US" sz="1100" b="1" spc="150" kern="0" dirty="0">
                <a:solidFill>
                  <a:srgbClr val="60A5FA"/>
                </a:solidFill>
                <a:latin typeface="Calibri" pitchFamily="34" charset="0"/>
                <a:ea typeface="Calibri" pitchFamily="34" charset="-122"/>
                <a:cs typeface="Calibri" pitchFamily="34" charset="-120"/>
              </a:rPr>
              <a:t>MONDAY</a:t>
            </a:r>
            <a:endParaRPr lang="en-US" sz="1100" dirty="0"/>
          </a:p>
        </p:txBody>
      </p:sp>
      <p:sp>
        <p:nvSpPr>
          <p:cNvPr id="7" name="Text 5"/>
          <p:cNvSpPr/>
          <p:nvPr/>
        </p:nvSpPr>
        <p:spPr>
          <a:xfrm>
            <a:off x="1051560" y="3474720"/>
            <a:ext cx="2852928" cy="1463040"/>
          </a:xfrm>
          <a:prstGeom prst="rect">
            <a:avLst/>
          </a:prstGeom>
          <a:noFill/>
          <a:ln/>
        </p:spPr>
        <p:txBody>
          <a:bodyPr wrap="square" rtlCol="0" anchor="t"/>
          <a:lstStyle/>
          <a:p>
            <a:pPr indent="0" marL="0">
              <a:buNone/>
            </a:pPr>
            <a:r>
              <a:rPr lang="en-US" sz="1450" i="1" dirty="0">
                <a:solidFill>
                  <a:srgbClr val="C7CEE6"/>
                </a:solidFill>
                <a:latin typeface="Calibri" pitchFamily="34" charset="0"/>
                <a:ea typeface="Calibri" pitchFamily="34" charset="-122"/>
                <a:cs typeface="Calibri" pitchFamily="34" charset="-120"/>
              </a:rPr>
              <a:t>“I'm a CS junior, know Python, want ML roles.”</a:t>
            </a:r>
            <a:endParaRPr lang="en-US" sz="1450" dirty="0"/>
          </a:p>
        </p:txBody>
      </p:sp>
      <p:pic>
        <p:nvPicPr>
          <p:cNvPr id="8" name="Image 0" descr="assets/ic_arrow_right.png">    </p:cNvPr>
          <p:cNvPicPr>
            <a:picLocks noChangeAspect="1"/>
          </p:cNvPicPr>
          <p:nvPr/>
        </p:nvPicPr>
        <p:blipFill>
          <a:blip r:embed="rId2"/>
          <a:stretch>
            <a:fillRect/>
          </a:stretch>
        </p:blipFill>
        <p:spPr>
          <a:xfrm>
            <a:off x="4151376" y="3886200"/>
            <a:ext cx="274320" cy="274320"/>
          </a:xfrm>
          <a:prstGeom prst="rect">
            <a:avLst/>
          </a:prstGeom>
        </p:spPr>
      </p:pic>
      <p:sp>
        <p:nvSpPr>
          <p:cNvPr id="9" name="Shape 6"/>
          <p:cNvSpPr/>
          <p:nvPr/>
        </p:nvSpPr>
        <p:spPr>
          <a:xfrm>
            <a:off x="4389120" y="2880360"/>
            <a:ext cx="3310128" cy="2331720"/>
          </a:xfrm>
          <a:prstGeom prst="roundRect">
            <a:avLst>
              <a:gd name="adj" fmla="val 5490"/>
            </a:avLst>
          </a:prstGeom>
          <a:solidFill>
            <a:srgbClr val="0E2547"/>
          </a:solidFill>
          <a:ln w="12700">
            <a:solidFill>
              <a:srgbClr val="2A4A7A"/>
            </a:solidFill>
            <a:prstDash val="solid"/>
          </a:ln>
          <a:effectLst>
            <a:outerShdw sx="100000" sy="100000" kx="0" ky="0" algn="bl" rotWithShape="0" blurRad="152400" dist="38100" dir="5400000">
              <a:srgbClr val="000000">
                <a:alpha val="35000"/>
              </a:srgbClr>
            </a:outerShdw>
          </a:effectLst>
        </p:spPr>
      </p:sp>
      <p:sp>
        <p:nvSpPr>
          <p:cNvPr id="10" name="Text 7"/>
          <p:cNvSpPr/>
          <p:nvPr/>
        </p:nvSpPr>
        <p:spPr>
          <a:xfrm>
            <a:off x="4617720" y="3063240"/>
            <a:ext cx="2852928" cy="320040"/>
          </a:xfrm>
          <a:prstGeom prst="rect">
            <a:avLst/>
          </a:prstGeom>
          <a:noFill/>
          <a:ln/>
        </p:spPr>
        <p:txBody>
          <a:bodyPr wrap="square" rtlCol="0" anchor="ctr"/>
          <a:lstStyle/>
          <a:p>
            <a:pPr indent="0" marL="0">
              <a:buNone/>
            </a:pPr>
            <a:r>
              <a:rPr lang="en-US" sz="1100" b="1" spc="150" kern="0" dirty="0">
                <a:solidFill>
                  <a:srgbClr val="60A5FA"/>
                </a:solidFill>
                <a:latin typeface="Calibri" pitchFamily="34" charset="0"/>
                <a:ea typeface="Calibri" pitchFamily="34" charset="-122"/>
                <a:cs typeface="Calibri" pitchFamily="34" charset="-120"/>
              </a:rPr>
              <a:t>WEDNESDAY</a:t>
            </a:r>
            <a:endParaRPr lang="en-US" sz="1100" dirty="0"/>
          </a:p>
        </p:txBody>
      </p:sp>
      <p:sp>
        <p:nvSpPr>
          <p:cNvPr id="11" name="Text 8"/>
          <p:cNvSpPr/>
          <p:nvPr/>
        </p:nvSpPr>
        <p:spPr>
          <a:xfrm>
            <a:off x="4617720" y="3474720"/>
            <a:ext cx="2852928" cy="1463040"/>
          </a:xfrm>
          <a:prstGeom prst="rect">
            <a:avLst/>
          </a:prstGeom>
          <a:noFill/>
          <a:ln/>
        </p:spPr>
        <p:txBody>
          <a:bodyPr wrap="square" rtlCol="0" anchor="t"/>
          <a:lstStyle/>
          <a:p>
            <a:pPr indent="0" marL="0">
              <a:buNone/>
            </a:pPr>
            <a:r>
              <a:rPr lang="en-US" sz="1450" i="1" dirty="0">
                <a:solidFill>
                  <a:srgbClr val="C7CEE6"/>
                </a:solidFill>
                <a:latin typeface="Calibri" pitchFamily="34" charset="0"/>
                <a:ea typeface="Calibri" pitchFamily="34" charset="-122"/>
                <a:cs typeface="Calibri" pitchFamily="34" charset="-120"/>
              </a:rPr>
              <a:t>“Wait — who are you again? I'm a CS junior...”</a:t>
            </a:r>
            <a:endParaRPr lang="en-US" sz="1450" dirty="0"/>
          </a:p>
        </p:txBody>
      </p:sp>
      <p:pic>
        <p:nvPicPr>
          <p:cNvPr id="12" name="Image 1" descr="assets/ic_arrow_right.png">    </p:cNvPr>
          <p:cNvPicPr>
            <a:picLocks noChangeAspect="1"/>
          </p:cNvPicPr>
          <p:nvPr/>
        </p:nvPicPr>
        <p:blipFill>
          <a:blip r:embed="rId3"/>
          <a:stretch>
            <a:fillRect/>
          </a:stretch>
        </p:blipFill>
        <p:spPr>
          <a:xfrm>
            <a:off x="7717536" y="3886200"/>
            <a:ext cx="274320" cy="274320"/>
          </a:xfrm>
          <a:prstGeom prst="rect">
            <a:avLst/>
          </a:prstGeom>
        </p:spPr>
      </p:pic>
      <p:sp>
        <p:nvSpPr>
          <p:cNvPr id="13" name="Shape 9"/>
          <p:cNvSpPr/>
          <p:nvPr/>
        </p:nvSpPr>
        <p:spPr>
          <a:xfrm>
            <a:off x="7955280" y="2880360"/>
            <a:ext cx="3310128" cy="2331720"/>
          </a:xfrm>
          <a:prstGeom prst="roundRect">
            <a:avLst>
              <a:gd name="adj" fmla="val 5490"/>
            </a:avLst>
          </a:prstGeom>
          <a:solidFill>
            <a:srgbClr val="3A1F2E"/>
          </a:solidFill>
          <a:ln w="12700">
            <a:solidFill>
              <a:srgbClr val="7A3A52"/>
            </a:solidFill>
            <a:prstDash val="solid"/>
          </a:ln>
          <a:effectLst>
            <a:outerShdw sx="100000" sy="100000" kx="0" ky="0" algn="bl" rotWithShape="0" blurRad="152400" dist="38100" dir="5400000">
              <a:srgbClr val="000000">
                <a:alpha val="35000"/>
              </a:srgbClr>
            </a:outerShdw>
          </a:effectLst>
        </p:spPr>
      </p:sp>
      <p:sp>
        <p:nvSpPr>
          <p:cNvPr id="14" name="Text 10"/>
          <p:cNvSpPr/>
          <p:nvPr/>
        </p:nvSpPr>
        <p:spPr>
          <a:xfrm>
            <a:off x="8183880" y="3063240"/>
            <a:ext cx="2852928" cy="320040"/>
          </a:xfrm>
          <a:prstGeom prst="rect">
            <a:avLst/>
          </a:prstGeom>
          <a:noFill/>
          <a:ln/>
        </p:spPr>
        <p:txBody>
          <a:bodyPr wrap="square" rtlCol="0" anchor="ctr"/>
          <a:lstStyle/>
          <a:p>
            <a:pPr indent="0" marL="0">
              <a:buNone/>
            </a:pPr>
            <a:r>
              <a:rPr lang="en-US" sz="1100" b="1" spc="150" kern="0" dirty="0">
                <a:solidFill>
                  <a:srgbClr val="F87171"/>
                </a:solidFill>
                <a:latin typeface="Calibri" pitchFamily="34" charset="0"/>
                <a:ea typeface="Calibri" pitchFamily="34" charset="-122"/>
                <a:cs typeface="Calibri" pitchFamily="34" charset="-120"/>
              </a:rPr>
              <a:t>FRIDAY</a:t>
            </a:r>
            <a:endParaRPr lang="en-US" sz="1100" dirty="0"/>
          </a:p>
        </p:txBody>
      </p:sp>
      <p:sp>
        <p:nvSpPr>
          <p:cNvPr id="15" name="Text 11"/>
          <p:cNvSpPr/>
          <p:nvPr/>
        </p:nvSpPr>
        <p:spPr>
          <a:xfrm>
            <a:off x="8183880" y="3474720"/>
            <a:ext cx="2852928" cy="1463040"/>
          </a:xfrm>
          <a:prstGeom prst="rect">
            <a:avLst/>
          </a:prstGeom>
          <a:noFill/>
          <a:ln/>
        </p:spPr>
        <p:txBody>
          <a:bodyPr wrap="square" rtlCol="0" anchor="t"/>
          <a:lstStyle/>
          <a:p>
            <a:pPr indent="0" marL="0">
              <a:buNone/>
            </a:pPr>
            <a:r>
              <a:rPr lang="en-US" sz="1450" i="1" dirty="0">
                <a:solidFill>
                  <a:srgbClr val="C7CEE6"/>
                </a:solidFill>
                <a:latin typeface="Calibri" pitchFamily="34" charset="0"/>
                <a:ea typeface="Calibri" pitchFamily="34" charset="-122"/>
                <a:cs typeface="Calibri" pitchFamily="34" charset="-120"/>
              </a:rPr>
              <a:t>“Still starting over. I'm a CS junior...”</a:t>
            </a:r>
            <a:endParaRPr lang="en-US" sz="1450" dirty="0"/>
          </a:p>
        </p:txBody>
      </p:sp>
      <p:sp>
        <p:nvSpPr>
          <p:cNvPr id="16" name="Text 12"/>
          <p:cNvSpPr/>
          <p:nvPr/>
        </p:nvSpPr>
        <p:spPr>
          <a:xfrm>
            <a:off x="822960" y="5440680"/>
            <a:ext cx="8229600" cy="365760"/>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Same student. Same goals. Zero continuity.</a:t>
            </a:r>
            <a:endParaRPr lang="en-US" sz="1400" dirty="0"/>
          </a:p>
        </p:txBody>
      </p:sp>
      <p:sp>
        <p:nvSpPr>
          <p:cNvPr id="17" name="Text 13"/>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2 / 11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1371600"/>
            <a:ext cx="12188952" cy="365760"/>
          </a:xfrm>
          <a:prstGeom prst="rect">
            <a:avLst/>
          </a:prstGeom>
          <a:noFill/>
          <a:ln/>
        </p:spPr>
        <p:txBody>
          <a:bodyPr wrap="square" rtlCol="0" anchor="ctr"/>
          <a:lstStyle/>
          <a:p>
            <a:pPr algn="ctr" indent="0" marL="0">
              <a:buNone/>
            </a:pPr>
            <a:r>
              <a:rPr lang="en-US" sz="1300" b="1" spc="300" kern="0" dirty="0">
                <a:solidFill>
                  <a:srgbClr val="A855F7"/>
                </a:solidFill>
                <a:latin typeface="Calibri" pitchFamily="34" charset="0"/>
                <a:ea typeface="Calibri" pitchFamily="34" charset="-122"/>
                <a:cs typeface="Calibri" pitchFamily="34" charset="-120"/>
              </a:rPr>
              <a:t>THE INSIGHT</a:t>
            </a:r>
            <a:endParaRPr lang="en-US" sz="1300" dirty="0"/>
          </a:p>
        </p:txBody>
      </p:sp>
      <p:sp>
        <p:nvSpPr>
          <p:cNvPr id="3" name="Text 1"/>
          <p:cNvSpPr/>
          <p:nvPr/>
        </p:nvSpPr>
        <p:spPr>
          <a:xfrm>
            <a:off x="822960" y="1965960"/>
            <a:ext cx="10543032" cy="2011680"/>
          </a:xfrm>
          <a:prstGeom prst="rect">
            <a:avLst/>
          </a:prstGeom>
          <a:noFill/>
          <a:ln/>
        </p:spPr>
        <p:txBody>
          <a:bodyPr wrap="square" rtlCol="0" anchor="ctr"/>
          <a:lstStyle/>
          <a:p>
            <a:pPr algn="ctr" indent="0" marL="0">
              <a:lnSpc>
                <a:spcPts val="6200"/>
              </a:lnSpc>
              <a:buNone/>
            </a:pPr>
            <a:r>
              <a:rPr lang="en-US" sz="5400" b="1" dirty="0">
                <a:solidFill>
                  <a:srgbClr val="C7CEE6"/>
                </a:solidFill>
                <a:latin typeface="Cambria" pitchFamily="34" charset="0"/>
                <a:ea typeface="Cambria" pitchFamily="34" charset="-122"/>
                <a:cs typeface="Cambria" pitchFamily="34" charset="-120"/>
              </a:rPr>
              <a:t>The biggest problem isn’t AI.
</a:t>
            </a:r>
            <a:pPr algn="ctr" indent="0" marL="0">
              <a:lnSpc>
                <a:spcPts val="6200"/>
              </a:lnSpc>
              <a:buNone/>
            </a:pPr>
            <a:r>
              <a:rPr lang="en-US" sz="5400" b="1" dirty="0">
                <a:solidFill>
                  <a:srgbClr val="A855F7"/>
                </a:solidFill>
                <a:latin typeface="Cambria" pitchFamily="34" charset="0"/>
                <a:ea typeface="Cambria" pitchFamily="34" charset="-122"/>
                <a:cs typeface="Cambria" pitchFamily="34" charset="-120"/>
              </a:rPr>
              <a:t>It’s memory.</a:t>
            </a:r>
            <a:endParaRPr lang="en-US" sz="5400" dirty="0"/>
          </a:p>
        </p:txBody>
      </p:sp>
      <p:sp>
        <p:nvSpPr>
          <p:cNvPr id="4" name="Text 2"/>
          <p:cNvSpPr/>
          <p:nvPr/>
        </p:nvSpPr>
        <p:spPr>
          <a:xfrm>
            <a:off x="1737360" y="4206240"/>
            <a:ext cx="8714232" cy="548640"/>
          </a:xfrm>
          <a:prstGeom prst="rect">
            <a:avLst/>
          </a:prstGeom>
          <a:noFill/>
          <a:ln/>
        </p:spPr>
        <p:txBody>
          <a:bodyPr wrap="square" rtlCol="0" anchor="ctr"/>
          <a:lstStyle/>
          <a:p>
            <a:pPr algn="ctr" indent="0" marL="0">
              <a:buNone/>
            </a:pPr>
            <a:r>
              <a:rPr lang="en-US" sz="2000" i="1" dirty="0">
                <a:solidFill>
                  <a:srgbClr val="9CA6C9"/>
                </a:solidFill>
                <a:latin typeface="Calibri" pitchFamily="34" charset="0"/>
                <a:ea typeface="Calibri" pitchFamily="34" charset="-122"/>
                <a:cs typeface="Calibri" pitchFamily="34" charset="-120"/>
              </a:rPr>
              <a:t>Without memory, there is no personalization.</a:t>
            </a:r>
            <a:endParaRPr lang="en-US" sz="2000" dirty="0"/>
          </a:p>
        </p:txBody>
      </p:sp>
      <p:sp>
        <p:nvSpPr>
          <p:cNvPr id="5" name="Shape 3"/>
          <p:cNvSpPr/>
          <p:nvPr/>
        </p:nvSpPr>
        <p:spPr>
          <a:xfrm>
            <a:off x="6012180" y="4983480"/>
            <a:ext cx="164592" cy="164592"/>
          </a:xfrm>
          <a:prstGeom prst="ellipse">
            <a:avLst/>
          </a:prstGeom>
          <a:solidFill>
            <a:srgbClr val="A855F7"/>
          </a:solidFill>
          <a:ln/>
        </p:spPr>
      </p:sp>
      <p:sp>
        <p:nvSpPr>
          <p:cNvPr id="6" name="Text 4"/>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3 /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60A5FA"/>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822960" y="1005840"/>
            <a:ext cx="7315200" cy="91440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MentorOS</a:t>
            </a:r>
            <a:endParaRPr lang="en-US" sz="4600" dirty="0"/>
          </a:p>
        </p:txBody>
      </p:sp>
      <p:sp>
        <p:nvSpPr>
          <p:cNvPr id="4" name="Text 2"/>
          <p:cNvSpPr/>
          <p:nvPr/>
        </p:nvSpPr>
        <p:spPr>
          <a:xfrm>
            <a:off x="822960" y="1783080"/>
            <a:ext cx="8686800" cy="502920"/>
          </a:xfrm>
          <a:prstGeom prst="rect">
            <a:avLst/>
          </a:prstGeom>
          <a:noFill/>
          <a:ln/>
        </p:spPr>
        <p:txBody>
          <a:bodyPr wrap="square" rtlCol="0" anchor="ctr"/>
          <a:lstStyle/>
          <a:p>
            <a:pPr indent="0" marL="0">
              <a:buNone/>
            </a:pPr>
            <a:r>
              <a:rPr lang="en-US" sz="1650" dirty="0">
                <a:solidFill>
                  <a:srgbClr val="C7CEE6"/>
                </a:solidFill>
                <a:latin typeface="Calibri" pitchFamily="34" charset="0"/>
                <a:ea typeface="Calibri" pitchFamily="34" charset="-122"/>
                <a:cs typeface="Calibri" pitchFamily="34" charset="-120"/>
              </a:rPr>
              <a:t>One mentor that remembers every session — and grows with the student.</a:t>
            </a:r>
            <a:endParaRPr lang="en-US" sz="1650" dirty="0"/>
          </a:p>
        </p:txBody>
      </p:sp>
      <p:sp>
        <p:nvSpPr>
          <p:cNvPr id="5" name="Shape 3"/>
          <p:cNvSpPr/>
          <p:nvPr/>
        </p:nvSpPr>
        <p:spPr>
          <a:xfrm>
            <a:off x="822960" y="2606040"/>
            <a:ext cx="2551176" cy="3246120"/>
          </a:xfrm>
          <a:prstGeom prst="roundRect">
            <a:avLst>
              <a:gd name="adj" fmla="val 501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6" name="Image 0" descr="assets/ic_memory.png">    </p:cNvPr>
          <p:cNvPicPr>
            <a:picLocks noChangeAspect="1"/>
          </p:cNvPicPr>
          <p:nvPr/>
        </p:nvPicPr>
        <p:blipFill>
          <a:blip r:embed="rId2"/>
          <a:stretch>
            <a:fillRect/>
          </a:stretch>
        </p:blipFill>
        <p:spPr>
          <a:xfrm>
            <a:off x="1641348" y="2926080"/>
            <a:ext cx="914400" cy="914400"/>
          </a:xfrm>
          <a:prstGeom prst="rect">
            <a:avLst/>
          </a:prstGeom>
        </p:spPr>
      </p:pic>
      <p:sp>
        <p:nvSpPr>
          <p:cNvPr id="7" name="Text 4"/>
          <p:cNvSpPr/>
          <p:nvPr/>
        </p:nvSpPr>
        <p:spPr>
          <a:xfrm>
            <a:off x="1005840" y="4023360"/>
            <a:ext cx="2185416" cy="77724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Persistent Memory</a:t>
            </a:r>
            <a:endParaRPr lang="en-US" sz="1600" dirty="0"/>
          </a:p>
        </p:txBody>
      </p:sp>
      <p:sp>
        <p:nvSpPr>
          <p:cNvPr id="8" name="Text 5"/>
          <p:cNvSpPr/>
          <p:nvPr/>
        </p:nvSpPr>
        <p:spPr>
          <a:xfrm>
            <a:off x="1024128" y="4892040"/>
            <a:ext cx="2148840" cy="822960"/>
          </a:xfrm>
          <a:prstGeom prst="rect">
            <a:avLst/>
          </a:prstGeom>
          <a:noFill/>
          <a:ln/>
        </p:spPr>
        <p:txBody>
          <a:bodyPr wrap="square" rtlCol="0" anchor="t"/>
          <a:lstStyle/>
          <a:p>
            <a:pPr algn="ctr" indent="0" marL="0">
              <a:buNone/>
            </a:pPr>
            <a:r>
              <a:rPr lang="en-US" sz="1200" dirty="0">
                <a:solidFill>
                  <a:srgbClr val="9CA6C9"/>
                </a:solidFill>
                <a:latin typeface="Calibri" pitchFamily="34" charset="0"/>
                <a:ea typeface="Calibri" pitchFamily="34" charset="-122"/>
                <a:cs typeface="Calibri" pitchFamily="34" charset="-120"/>
              </a:rPr>
              <a:t>Facts survive across every session</a:t>
            </a:r>
            <a:endParaRPr lang="en-US" sz="1200" dirty="0"/>
          </a:p>
        </p:txBody>
      </p:sp>
      <p:sp>
        <p:nvSpPr>
          <p:cNvPr id="9" name="Shape 6"/>
          <p:cNvSpPr/>
          <p:nvPr/>
        </p:nvSpPr>
        <p:spPr>
          <a:xfrm>
            <a:off x="3593592" y="2606040"/>
            <a:ext cx="2551176" cy="3246120"/>
          </a:xfrm>
          <a:prstGeom prst="roundRect">
            <a:avLst>
              <a:gd name="adj" fmla="val 501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10" name="Image 1" descr="assets/ic_link.png">    </p:cNvPr>
          <p:cNvPicPr>
            <a:picLocks noChangeAspect="1"/>
          </p:cNvPicPr>
          <p:nvPr/>
        </p:nvPicPr>
        <p:blipFill>
          <a:blip r:embed="rId3"/>
          <a:stretch>
            <a:fillRect/>
          </a:stretch>
        </p:blipFill>
        <p:spPr>
          <a:xfrm>
            <a:off x="4411980" y="2926080"/>
            <a:ext cx="914400" cy="914400"/>
          </a:xfrm>
          <a:prstGeom prst="rect">
            <a:avLst/>
          </a:prstGeom>
        </p:spPr>
      </p:pic>
      <p:sp>
        <p:nvSpPr>
          <p:cNvPr id="11" name="Text 7"/>
          <p:cNvSpPr/>
          <p:nvPr/>
        </p:nvSpPr>
        <p:spPr>
          <a:xfrm>
            <a:off x="3776472" y="4023360"/>
            <a:ext cx="2185416" cy="77724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Cross-Session Personalization</a:t>
            </a:r>
            <a:endParaRPr lang="en-US" sz="1600" dirty="0"/>
          </a:p>
        </p:txBody>
      </p:sp>
      <p:sp>
        <p:nvSpPr>
          <p:cNvPr id="12" name="Text 8"/>
          <p:cNvSpPr/>
          <p:nvPr/>
        </p:nvSpPr>
        <p:spPr>
          <a:xfrm>
            <a:off x="3794760" y="4892040"/>
            <a:ext cx="2148840" cy="822960"/>
          </a:xfrm>
          <a:prstGeom prst="rect">
            <a:avLst/>
          </a:prstGeom>
          <a:noFill/>
          <a:ln/>
        </p:spPr>
        <p:txBody>
          <a:bodyPr wrap="square" rtlCol="0" anchor="t"/>
          <a:lstStyle/>
          <a:p>
            <a:pPr algn="ctr" indent="0" marL="0">
              <a:buNone/>
            </a:pPr>
            <a:r>
              <a:rPr lang="en-US" sz="1200" dirty="0">
                <a:solidFill>
                  <a:srgbClr val="9CA6C9"/>
                </a:solidFill>
                <a:latin typeface="Calibri" pitchFamily="34" charset="0"/>
                <a:ea typeface="Calibri" pitchFamily="34" charset="-122"/>
                <a:cs typeface="Calibri" pitchFamily="34" charset="-120"/>
              </a:rPr>
              <a:t>Advice compounds over time</a:t>
            </a:r>
            <a:endParaRPr lang="en-US" sz="1200" dirty="0"/>
          </a:p>
        </p:txBody>
      </p:sp>
      <p:sp>
        <p:nvSpPr>
          <p:cNvPr id="13" name="Shape 9"/>
          <p:cNvSpPr/>
          <p:nvPr/>
        </p:nvSpPr>
        <p:spPr>
          <a:xfrm>
            <a:off x="6364224" y="2606040"/>
            <a:ext cx="2551176" cy="3246120"/>
          </a:xfrm>
          <a:prstGeom prst="roundRect">
            <a:avLst>
              <a:gd name="adj" fmla="val 501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14" name="Image 2" descr="assets/ic_resume.png">    </p:cNvPr>
          <p:cNvPicPr>
            <a:picLocks noChangeAspect="1"/>
          </p:cNvPicPr>
          <p:nvPr/>
        </p:nvPicPr>
        <p:blipFill>
          <a:blip r:embed="rId4"/>
          <a:stretch>
            <a:fillRect/>
          </a:stretch>
        </p:blipFill>
        <p:spPr>
          <a:xfrm>
            <a:off x="7182612" y="2926080"/>
            <a:ext cx="914400" cy="914400"/>
          </a:xfrm>
          <a:prstGeom prst="rect">
            <a:avLst/>
          </a:prstGeom>
        </p:spPr>
      </p:pic>
      <p:sp>
        <p:nvSpPr>
          <p:cNvPr id="15" name="Text 10"/>
          <p:cNvSpPr/>
          <p:nvPr/>
        </p:nvSpPr>
        <p:spPr>
          <a:xfrm>
            <a:off x="6547104" y="4023360"/>
            <a:ext cx="2185416" cy="77724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Resume Intelligence</a:t>
            </a:r>
            <a:endParaRPr lang="en-US" sz="1600" dirty="0"/>
          </a:p>
        </p:txBody>
      </p:sp>
      <p:sp>
        <p:nvSpPr>
          <p:cNvPr id="16" name="Text 11"/>
          <p:cNvSpPr/>
          <p:nvPr/>
        </p:nvSpPr>
        <p:spPr>
          <a:xfrm>
            <a:off x="6565392" y="4892040"/>
            <a:ext cx="2148840" cy="822960"/>
          </a:xfrm>
          <a:prstGeom prst="rect">
            <a:avLst/>
          </a:prstGeom>
          <a:noFill/>
          <a:ln/>
        </p:spPr>
        <p:txBody>
          <a:bodyPr wrap="square" rtlCol="0" anchor="t"/>
          <a:lstStyle/>
          <a:p>
            <a:pPr algn="ctr" indent="0" marL="0">
              <a:buNone/>
            </a:pPr>
            <a:r>
              <a:rPr lang="en-US" sz="1200" dirty="0">
                <a:solidFill>
                  <a:srgbClr val="9CA6C9"/>
                </a:solidFill>
                <a:latin typeface="Calibri" pitchFamily="34" charset="0"/>
                <a:ea typeface="Calibri" pitchFamily="34" charset="-122"/>
                <a:cs typeface="Calibri" pitchFamily="34" charset="-120"/>
              </a:rPr>
              <a:t>Qwen extracts skills &amp; projects</a:t>
            </a:r>
            <a:endParaRPr lang="en-US" sz="1200" dirty="0"/>
          </a:p>
        </p:txBody>
      </p:sp>
      <p:sp>
        <p:nvSpPr>
          <p:cNvPr id="17" name="Shape 12"/>
          <p:cNvSpPr/>
          <p:nvPr/>
        </p:nvSpPr>
        <p:spPr>
          <a:xfrm>
            <a:off x="9134856" y="2606040"/>
            <a:ext cx="2551176" cy="3246120"/>
          </a:xfrm>
          <a:prstGeom prst="roundRect">
            <a:avLst>
              <a:gd name="adj" fmla="val 501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18" name="Image 3" descr="assets/ic_career.png">    </p:cNvPr>
          <p:cNvPicPr>
            <a:picLocks noChangeAspect="1"/>
          </p:cNvPicPr>
          <p:nvPr/>
        </p:nvPicPr>
        <p:blipFill>
          <a:blip r:embed="rId5"/>
          <a:stretch>
            <a:fillRect/>
          </a:stretch>
        </p:blipFill>
        <p:spPr>
          <a:xfrm>
            <a:off x="9953244" y="2926080"/>
            <a:ext cx="914400" cy="914400"/>
          </a:xfrm>
          <a:prstGeom prst="rect">
            <a:avLst/>
          </a:prstGeom>
        </p:spPr>
      </p:pic>
      <p:sp>
        <p:nvSpPr>
          <p:cNvPr id="19" name="Text 13"/>
          <p:cNvSpPr/>
          <p:nvPr/>
        </p:nvSpPr>
        <p:spPr>
          <a:xfrm>
            <a:off x="9317736" y="4023360"/>
            <a:ext cx="2185416" cy="777240"/>
          </a:xfrm>
          <a:prstGeom prst="rect">
            <a:avLst/>
          </a:prstGeom>
          <a:noFill/>
          <a:ln/>
        </p:spPr>
        <p:txBody>
          <a:bodyPr wrap="square"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Career Guidance</a:t>
            </a:r>
            <a:endParaRPr lang="en-US" sz="1600" dirty="0"/>
          </a:p>
        </p:txBody>
      </p:sp>
      <p:sp>
        <p:nvSpPr>
          <p:cNvPr id="20" name="Text 14"/>
          <p:cNvSpPr/>
          <p:nvPr/>
        </p:nvSpPr>
        <p:spPr>
          <a:xfrm>
            <a:off x="9336024" y="4892040"/>
            <a:ext cx="2148840" cy="822960"/>
          </a:xfrm>
          <a:prstGeom prst="rect">
            <a:avLst/>
          </a:prstGeom>
          <a:noFill/>
          <a:ln/>
        </p:spPr>
        <p:txBody>
          <a:bodyPr wrap="square" rtlCol="0" anchor="t"/>
          <a:lstStyle/>
          <a:p>
            <a:pPr algn="ctr" indent="0" marL="0">
              <a:buNone/>
            </a:pPr>
            <a:r>
              <a:rPr lang="en-US" sz="1200" dirty="0">
                <a:solidFill>
                  <a:srgbClr val="9CA6C9"/>
                </a:solidFill>
                <a:latin typeface="Calibri" pitchFamily="34" charset="0"/>
                <a:ea typeface="Calibri" pitchFamily="34" charset="-122"/>
                <a:cs typeface="Calibri" pitchFamily="34" charset="-120"/>
              </a:rPr>
              <a:t>Roadmaps grounded in real history</a:t>
            </a:r>
            <a:endParaRPr lang="en-US" sz="1200" dirty="0"/>
          </a:p>
        </p:txBody>
      </p:sp>
      <p:sp>
        <p:nvSpPr>
          <p:cNvPr id="21" name="Text 15"/>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4 / 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60A5FA"/>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822960" y="1005840"/>
            <a:ext cx="9601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From a student's question to a personalized answer.</a:t>
            </a:r>
            <a:endParaRPr lang="en-US" sz="2700" dirty="0"/>
          </a:p>
        </p:txBody>
      </p:sp>
      <p:sp>
        <p:nvSpPr>
          <p:cNvPr id="4" name="Shape 2"/>
          <p:cNvSpPr/>
          <p:nvPr/>
        </p:nvSpPr>
        <p:spPr>
          <a:xfrm>
            <a:off x="822960"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5" name="Image 0" descr="assets/ic_student.png">    </p:cNvPr>
          <p:cNvPicPr>
            <a:picLocks noChangeAspect="1"/>
          </p:cNvPicPr>
          <p:nvPr/>
        </p:nvPicPr>
        <p:blipFill>
          <a:blip r:embed="rId2"/>
          <a:stretch>
            <a:fillRect/>
          </a:stretch>
        </p:blipFill>
        <p:spPr>
          <a:xfrm>
            <a:off x="1220724" y="2953512"/>
            <a:ext cx="621792" cy="621792"/>
          </a:xfrm>
          <a:prstGeom prst="rect">
            <a:avLst/>
          </a:prstGeom>
        </p:spPr>
      </p:pic>
      <p:sp>
        <p:nvSpPr>
          <p:cNvPr id="6" name="Text 3"/>
          <p:cNvSpPr/>
          <p:nvPr/>
        </p:nvSpPr>
        <p:spPr>
          <a:xfrm>
            <a:off x="731520"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Student</a:t>
            </a:r>
            <a:endParaRPr lang="en-US" sz="1150" dirty="0"/>
          </a:p>
        </p:txBody>
      </p:sp>
      <p:pic>
        <p:nvPicPr>
          <p:cNvPr id="7" name="Image 1" descr="assets/ic_arrow_right.png">    </p:cNvPr>
          <p:cNvPicPr>
            <a:picLocks noChangeAspect="1"/>
          </p:cNvPicPr>
          <p:nvPr/>
        </p:nvPicPr>
        <p:blipFill>
          <a:blip r:embed="rId3"/>
          <a:stretch>
            <a:fillRect/>
          </a:stretch>
        </p:blipFill>
        <p:spPr>
          <a:xfrm>
            <a:off x="2307031" y="3360420"/>
            <a:ext cx="274320" cy="274320"/>
          </a:xfrm>
          <a:prstGeom prst="rect">
            <a:avLst/>
          </a:prstGeom>
        </p:spPr>
      </p:pic>
      <p:sp>
        <p:nvSpPr>
          <p:cNvPr id="8" name="Shape 4"/>
          <p:cNvSpPr/>
          <p:nvPr/>
        </p:nvSpPr>
        <p:spPr>
          <a:xfrm>
            <a:off x="2648102"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9" name="Image 2" descr="assets/ic_api.png">    </p:cNvPr>
          <p:cNvPicPr>
            <a:picLocks noChangeAspect="1"/>
          </p:cNvPicPr>
          <p:nvPr/>
        </p:nvPicPr>
        <p:blipFill>
          <a:blip r:embed="rId4"/>
          <a:stretch>
            <a:fillRect/>
          </a:stretch>
        </p:blipFill>
        <p:spPr>
          <a:xfrm>
            <a:off x="3045866" y="2953512"/>
            <a:ext cx="621792" cy="621792"/>
          </a:xfrm>
          <a:prstGeom prst="rect">
            <a:avLst/>
          </a:prstGeom>
        </p:spPr>
      </p:pic>
      <p:sp>
        <p:nvSpPr>
          <p:cNvPr id="10" name="Text 5"/>
          <p:cNvSpPr/>
          <p:nvPr/>
        </p:nvSpPr>
        <p:spPr>
          <a:xfrm>
            <a:off x="2556662"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FastAPI</a:t>
            </a:r>
            <a:endParaRPr lang="en-US" sz="1150" dirty="0"/>
          </a:p>
        </p:txBody>
      </p:sp>
      <p:pic>
        <p:nvPicPr>
          <p:cNvPr id="11" name="Image 3" descr="assets/ic_arrow_right.png">    </p:cNvPr>
          <p:cNvPicPr>
            <a:picLocks noChangeAspect="1"/>
          </p:cNvPicPr>
          <p:nvPr/>
        </p:nvPicPr>
        <p:blipFill>
          <a:blip r:embed="rId5"/>
          <a:stretch>
            <a:fillRect/>
          </a:stretch>
        </p:blipFill>
        <p:spPr>
          <a:xfrm>
            <a:off x="4132174" y="3360420"/>
            <a:ext cx="274320" cy="274320"/>
          </a:xfrm>
          <a:prstGeom prst="rect">
            <a:avLst/>
          </a:prstGeom>
        </p:spPr>
      </p:pic>
      <p:sp>
        <p:nvSpPr>
          <p:cNvPr id="12" name="Shape 6"/>
          <p:cNvSpPr/>
          <p:nvPr/>
        </p:nvSpPr>
        <p:spPr>
          <a:xfrm>
            <a:off x="4473245"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13" name="Image 4" descr="assets/ic_engine.png">    </p:cNvPr>
          <p:cNvPicPr>
            <a:picLocks noChangeAspect="1"/>
          </p:cNvPicPr>
          <p:nvPr/>
        </p:nvPicPr>
        <p:blipFill>
          <a:blip r:embed="rId6"/>
          <a:stretch>
            <a:fillRect/>
          </a:stretch>
        </p:blipFill>
        <p:spPr>
          <a:xfrm>
            <a:off x="4871009" y="2953512"/>
            <a:ext cx="621792" cy="621792"/>
          </a:xfrm>
          <a:prstGeom prst="rect">
            <a:avLst/>
          </a:prstGeom>
        </p:spPr>
      </p:pic>
      <p:sp>
        <p:nvSpPr>
          <p:cNvPr id="14" name="Text 7"/>
          <p:cNvSpPr/>
          <p:nvPr/>
        </p:nvSpPr>
        <p:spPr>
          <a:xfrm>
            <a:off x="4381805"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Memory Engine</a:t>
            </a:r>
            <a:endParaRPr lang="en-US" sz="1150" dirty="0"/>
          </a:p>
        </p:txBody>
      </p:sp>
      <p:pic>
        <p:nvPicPr>
          <p:cNvPr id="15" name="Image 5" descr="assets/ic_arrow_right.png">    </p:cNvPr>
          <p:cNvPicPr>
            <a:picLocks noChangeAspect="1"/>
          </p:cNvPicPr>
          <p:nvPr/>
        </p:nvPicPr>
        <p:blipFill>
          <a:blip r:embed="rId7"/>
          <a:stretch>
            <a:fillRect/>
          </a:stretch>
        </p:blipFill>
        <p:spPr>
          <a:xfrm>
            <a:off x="5957316" y="3360420"/>
            <a:ext cx="274320" cy="274320"/>
          </a:xfrm>
          <a:prstGeom prst="rect">
            <a:avLst/>
          </a:prstGeom>
        </p:spPr>
      </p:pic>
      <p:sp>
        <p:nvSpPr>
          <p:cNvPr id="16" name="Shape 8"/>
          <p:cNvSpPr/>
          <p:nvPr/>
        </p:nvSpPr>
        <p:spPr>
          <a:xfrm>
            <a:off x="6298387"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17" name="Image 6" descr="assets/ic_qwen.png">    </p:cNvPr>
          <p:cNvPicPr>
            <a:picLocks noChangeAspect="1"/>
          </p:cNvPicPr>
          <p:nvPr/>
        </p:nvPicPr>
        <p:blipFill>
          <a:blip r:embed="rId8"/>
          <a:stretch>
            <a:fillRect/>
          </a:stretch>
        </p:blipFill>
        <p:spPr>
          <a:xfrm>
            <a:off x="6696151" y="2953512"/>
            <a:ext cx="621792" cy="621792"/>
          </a:xfrm>
          <a:prstGeom prst="rect">
            <a:avLst/>
          </a:prstGeom>
        </p:spPr>
      </p:pic>
      <p:sp>
        <p:nvSpPr>
          <p:cNvPr id="18" name="Text 9"/>
          <p:cNvSpPr/>
          <p:nvPr/>
        </p:nvSpPr>
        <p:spPr>
          <a:xfrm>
            <a:off x="6206947"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Qwen</a:t>
            </a:r>
            <a:endParaRPr lang="en-US" sz="1150" dirty="0"/>
          </a:p>
        </p:txBody>
      </p:sp>
      <p:pic>
        <p:nvPicPr>
          <p:cNvPr id="19" name="Image 7" descr="assets/ic_arrow_right.png">    </p:cNvPr>
          <p:cNvPicPr>
            <a:picLocks noChangeAspect="1"/>
          </p:cNvPicPr>
          <p:nvPr/>
        </p:nvPicPr>
        <p:blipFill>
          <a:blip r:embed="rId9"/>
          <a:stretch>
            <a:fillRect/>
          </a:stretch>
        </p:blipFill>
        <p:spPr>
          <a:xfrm>
            <a:off x="7782458" y="3360420"/>
            <a:ext cx="274320" cy="274320"/>
          </a:xfrm>
          <a:prstGeom prst="rect">
            <a:avLst/>
          </a:prstGeom>
        </p:spPr>
      </p:pic>
      <p:sp>
        <p:nvSpPr>
          <p:cNvPr id="20" name="Shape 10"/>
          <p:cNvSpPr/>
          <p:nvPr/>
        </p:nvSpPr>
        <p:spPr>
          <a:xfrm>
            <a:off x="8123530"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21" name="Image 8" descr="assets/ic_chroma.png">    </p:cNvPr>
          <p:cNvPicPr>
            <a:picLocks noChangeAspect="1"/>
          </p:cNvPicPr>
          <p:nvPr/>
        </p:nvPicPr>
        <p:blipFill>
          <a:blip r:embed="rId10"/>
          <a:stretch>
            <a:fillRect/>
          </a:stretch>
        </p:blipFill>
        <p:spPr>
          <a:xfrm>
            <a:off x="8521294" y="2953512"/>
            <a:ext cx="621792" cy="621792"/>
          </a:xfrm>
          <a:prstGeom prst="rect">
            <a:avLst/>
          </a:prstGeom>
        </p:spPr>
      </p:pic>
      <p:sp>
        <p:nvSpPr>
          <p:cNvPr id="22" name="Text 11"/>
          <p:cNvSpPr/>
          <p:nvPr/>
        </p:nvSpPr>
        <p:spPr>
          <a:xfrm>
            <a:off x="8032090"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ChromaDB</a:t>
            </a:r>
            <a:endParaRPr lang="en-US" sz="1150" dirty="0"/>
          </a:p>
        </p:txBody>
      </p:sp>
      <p:pic>
        <p:nvPicPr>
          <p:cNvPr id="23" name="Image 9" descr="assets/ic_arrow_right.png">    </p:cNvPr>
          <p:cNvPicPr>
            <a:picLocks noChangeAspect="1"/>
          </p:cNvPicPr>
          <p:nvPr/>
        </p:nvPicPr>
        <p:blipFill>
          <a:blip r:embed="rId11"/>
          <a:stretch>
            <a:fillRect/>
          </a:stretch>
        </p:blipFill>
        <p:spPr>
          <a:xfrm>
            <a:off x="9607601" y="3360420"/>
            <a:ext cx="274320" cy="274320"/>
          </a:xfrm>
          <a:prstGeom prst="rect">
            <a:avLst/>
          </a:prstGeom>
        </p:spPr>
      </p:pic>
      <p:sp>
        <p:nvSpPr>
          <p:cNvPr id="24" name="Shape 12"/>
          <p:cNvSpPr/>
          <p:nvPr/>
        </p:nvSpPr>
        <p:spPr>
          <a:xfrm>
            <a:off x="9948672" y="2788920"/>
            <a:ext cx="1417320" cy="1417320"/>
          </a:xfrm>
          <a:prstGeom prst="roundRect">
            <a:avLst>
              <a:gd name="adj" fmla="val 10323"/>
            </a:avLst>
          </a:prstGeom>
          <a:solidFill>
            <a:srgbClr val="13183A"/>
          </a:solidFill>
          <a:ln w="15875">
            <a:solidFill>
              <a:srgbClr val="3A3F72"/>
            </a:solidFill>
            <a:prstDash val="solid"/>
          </a:ln>
          <a:effectLst>
            <a:outerShdw sx="100000" sy="100000" kx="0" ky="0" algn="bl" rotWithShape="0" blurRad="127000" dist="38100" dir="5400000">
              <a:srgbClr val="000000">
                <a:alpha val="30000"/>
              </a:srgbClr>
            </a:outerShdw>
          </a:effectLst>
        </p:spPr>
      </p:sp>
      <p:pic>
        <p:nvPicPr>
          <p:cNvPr id="25" name="Image 10" descr="assets/ic_response.png">    </p:cNvPr>
          <p:cNvPicPr>
            <a:picLocks noChangeAspect="1"/>
          </p:cNvPicPr>
          <p:nvPr/>
        </p:nvPicPr>
        <p:blipFill>
          <a:blip r:embed="rId12"/>
          <a:stretch>
            <a:fillRect/>
          </a:stretch>
        </p:blipFill>
        <p:spPr>
          <a:xfrm>
            <a:off x="10346436" y="2953512"/>
            <a:ext cx="621792" cy="621792"/>
          </a:xfrm>
          <a:prstGeom prst="rect">
            <a:avLst/>
          </a:prstGeom>
        </p:spPr>
      </p:pic>
      <p:sp>
        <p:nvSpPr>
          <p:cNvPr id="26" name="Text 13"/>
          <p:cNvSpPr/>
          <p:nvPr/>
        </p:nvSpPr>
        <p:spPr>
          <a:xfrm>
            <a:off x="9857232" y="3657600"/>
            <a:ext cx="1600200" cy="502920"/>
          </a:xfrm>
          <a:prstGeom prst="rect">
            <a:avLst/>
          </a:prstGeom>
          <a:noFill/>
          <a:ln/>
        </p:spPr>
        <p:txBody>
          <a:bodyPr wrap="square" rtlCol="0" anchor="t"/>
          <a:lstStyle/>
          <a:p>
            <a:pPr algn="ctr" indent="0" marL="0">
              <a:buNone/>
            </a:pPr>
            <a:r>
              <a:rPr lang="en-US" sz="1150" b="1" dirty="0">
                <a:solidFill>
                  <a:srgbClr val="FFFFFF"/>
                </a:solidFill>
                <a:latin typeface="Calibri" pitchFamily="34" charset="0"/>
                <a:ea typeface="Calibri" pitchFamily="34" charset="-122"/>
                <a:cs typeface="Calibri" pitchFamily="34" charset="-120"/>
              </a:rPr>
              <a:t>Personalized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Response</a:t>
            </a:r>
            <a:endParaRPr lang="en-US" sz="1150" dirty="0"/>
          </a:p>
        </p:txBody>
      </p:sp>
      <p:sp>
        <p:nvSpPr>
          <p:cNvPr id="27" name="Shape 14"/>
          <p:cNvSpPr/>
          <p:nvPr/>
        </p:nvSpPr>
        <p:spPr>
          <a:xfrm>
            <a:off x="822960" y="4937760"/>
            <a:ext cx="10543032" cy="1234440"/>
          </a:xfrm>
          <a:prstGeom prst="roundRect">
            <a:avLst>
              <a:gd name="adj" fmla="val 10370"/>
            </a:avLst>
          </a:prstGeom>
          <a:solidFill>
            <a:srgbClr val="12173A"/>
          </a:solidFill>
          <a:ln w="12700">
            <a:solidFill>
              <a:srgbClr val="2E3564"/>
            </a:solidFill>
            <a:prstDash val="solid"/>
          </a:ln>
          <a:effectLst>
            <a:outerShdw sx="100000" sy="100000" kx="0" ky="0" algn="bl" rotWithShape="0" blurRad="152400" dist="38100" dir="5400000">
              <a:srgbClr val="000000">
                <a:alpha val="35000"/>
              </a:srgbClr>
            </a:outerShdw>
          </a:effectLst>
        </p:spPr>
      </p:sp>
      <p:sp>
        <p:nvSpPr>
          <p:cNvPr id="28" name="Text 15"/>
          <p:cNvSpPr/>
          <p:nvPr/>
        </p:nvSpPr>
        <p:spPr>
          <a:xfrm>
            <a:off x="1097280" y="4937760"/>
            <a:ext cx="9994392" cy="1234440"/>
          </a:xfrm>
          <a:prstGeom prst="rect">
            <a:avLst/>
          </a:prstGeom>
          <a:noFill/>
          <a:ln/>
        </p:spPr>
        <p:txBody>
          <a:bodyPr wrap="square" rtlCol="0" anchor="ctr"/>
          <a:lstStyle/>
          <a:p>
            <a:pPr algn="ctr" indent="0" marL="0">
              <a:buNone/>
            </a:pPr>
            <a:r>
              <a:rPr lang="en-US" sz="1600" dirty="0">
                <a:solidFill>
                  <a:srgbClr val="C7CEE6"/>
                </a:solidFill>
                <a:latin typeface="Calibri" pitchFamily="34" charset="0"/>
                <a:ea typeface="Calibri" pitchFamily="34" charset="-122"/>
                <a:cs typeface="Calibri" pitchFamily="34" charset="-120"/>
              </a:rPr>
              <a:t>Every request retrieves the student’s real history first — </a:t>
            </a:r>
            <a:pPr algn="ctr" indent="0" marL="0">
              <a:buNone/>
            </a:pPr>
            <a:r>
              <a:rPr lang="en-US" sz="1600" b="1" dirty="0">
                <a:solidFill>
                  <a:srgbClr val="60A5FA"/>
                </a:solidFill>
                <a:latin typeface="Calibri" pitchFamily="34" charset="0"/>
                <a:ea typeface="Calibri" pitchFamily="34" charset="-122"/>
                <a:cs typeface="Calibri" pitchFamily="34" charset="-120"/>
              </a:rPr>
              <a:t>then Qwen reasons over it.</a:t>
            </a:r>
            <a:endParaRPr lang="en-US" sz="1600" dirty="0"/>
          </a:p>
        </p:txBody>
      </p:sp>
      <p:sp>
        <p:nvSpPr>
          <p:cNvPr id="29" name="Text 16"/>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5 / 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indent="0" marL="0">
              <a:buNone/>
            </a:pPr>
            <a:r>
              <a:rPr lang="en-US" sz="1300" b="1" spc="300" kern="0" dirty="0">
                <a:solidFill>
                  <a:srgbClr val="A855F7"/>
                </a:solidFill>
                <a:latin typeface="Calibri" pitchFamily="34" charset="0"/>
                <a:ea typeface="Calibri" pitchFamily="34" charset="-122"/>
                <a:cs typeface="Calibri" pitchFamily="34" charset="-120"/>
              </a:rPr>
              <a:t>THE MEMORY ENGINE</a:t>
            </a:r>
            <a:endParaRPr lang="en-US" sz="1300" dirty="0"/>
          </a:p>
        </p:txBody>
      </p:sp>
      <p:sp>
        <p:nvSpPr>
          <p:cNvPr id="3" name="Text 1"/>
          <p:cNvSpPr/>
          <p:nvPr/>
        </p:nvSpPr>
        <p:spPr>
          <a:xfrm>
            <a:off x="822960" y="914400"/>
            <a:ext cx="9601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Memory isn’t storage. It’s a lifecycle.</a:t>
            </a:r>
            <a:endParaRPr lang="en-US" sz="2700" dirty="0"/>
          </a:p>
        </p:txBody>
      </p:sp>
      <p:sp>
        <p:nvSpPr>
          <p:cNvPr id="4" name="Shape 2"/>
          <p:cNvSpPr/>
          <p:nvPr/>
        </p:nvSpPr>
        <p:spPr>
          <a:xfrm>
            <a:off x="822960" y="1691640"/>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5" name="Image 0" descr="assets/ic_create.png">    </p:cNvPr>
          <p:cNvPicPr>
            <a:picLocks noChangeAspect="1"/>
          </p:cNvPicPr>
          <p:nvPr/>
        </p:nvPicPr>
        <p:blipFill>
          <a:blip r:embed="rId2"/>
          <a:stretch>
            <a:fillRect/>
          </a:stretch>
        </p:blipFill>
        <p:spPr>
          <a:xfrm>
            <a:off x="1024128" y="1892808"/>
            <a:ext cx="566928" cy="566928"/>
          </a:xfrm>
          <a:prstGeom prst="rect">
            <a:avLst/>
          </a:prstGeom>
        </p:spPr>
      </p:pic>
      <p:sp>
        <p:nvSpPr>
          <p:cNvPr id="6" name="Text 3"/>
          <p:cNvSpPr/>
          <p:nvPr/>
        </p:nvSpPr>
        <p:spPr>
          <a:xfrm>
            <a:off x="2567178" y="1828800"/>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01</a:t>
            </a:r>
            <a:endParaRPr lang="en-US" sz="1600" dirty="0"/>
          </a:p>
        </p:txBody>
      </p:sp>
      <p:sp>
        <p:nvSpPr>
          <p:cNvPr id="7" name="Text 4"/>
          <p:cNvSpPr/>
          <p:nvPr/>
        </p:nvSpPr>
        <p:spPr>
          <a:xfrm>
            <a:off x="1024128" y="2587752"/>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Creation</a:t>
            </a:r>
            <a:endParaRPr lang="en-US" sz="1450" dirty="0"/>
          </a:p>
        </p:txBody>
      </p:sp>
      <p:sp>
        <p:nvSpPr>
          <p:cNvPr id="8" name="Text 5"/>
          <p:cNvSpPr/>
          <p:nvPr/>
        </p:nvSpPr>
        <p:spPr>
          <a:xfrm>
            <a:off x="1024128" y="2990088"/>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New fact captured</a:t>
            </a:r>
            <a:endParaRPr lang="en-US" sz="1100" dirty="0"/>
          </a:p>
        </p:txBody>
      </p:sp>
      <p:sp>
        <p:nvSpPr>
          <p:cNvPr id="9" name="Shape 6"/>
          <p:cNvSpPr/>
          <p:nvPr/>
        </p:nvSpPr>
        <p:spPr>
          <a:xfrm>
            <a:off x="3527298" y="1691640"/>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10" name="Image 1" descr="assets/ic_embed.png">    </p:cNvPr>
          <p:cNvPicPr>
            <a:picLocks noChangeAspect="1"/>
          </p:cNvPicPr>
          <p:nvPr/>
        </p:nvPicPr>
        <p:blipFill>
          <a:blip r:embed="rId3"/>
          <a:stretch>
            <a:fillRect/>
          </a:stretch>
        </p:blipFill>
        <p:spPr>
          <a:xfrm>
            <a:off x="3728466" y="1892808"/>
            <a:ext cx="566928" cy="566928"/>
          </a:xfrm>
          <a:prstGeom prst="rect">
            <a:avLst/>
          </a:prstGeom>
        </p:spPr>
      </p:pic>
      <p:sp>
        <p:nvSpPr>
          <p:cNvPr id="11" name="Text 7"/>
          <p:cNvSpPr/>
          <p:nvPr/>
        </p:nvSpPr>
        <p:spPr>
          <a:xfrm>
            <a:off x="5271516" y="1828800"/>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02</a:t>
            </a:r>
            <a:endParaRPr lang="en-US" sz="1600" dirty="0"/>
          </a:p>
        </p:txBody>
      </p:sp>
      <p:sp>
        <p:nvSpPr>
          <p:cNvPr id="12" name="Text 8"/>
          <p:cNvSpPr/>
          <p:nvPr/>
        </p:nvSpPr>
        <p:spPr>
          <a:xfrm>
            <a:off x="3728466" y="2587752"/>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Embedding</a:t>
            </a:r>
            <a:endParaRPr lang="en-US" sz="1450" dirty="0"/>
          </a:p>
        </p:txBody>
      </p:sp>
      <p:sp>
        <p:nvSpPr>
          <p:cNvPr id="13" name="Text 9"/>
          <p:cNvSpPr/>
          <p:nvPr/>
        </p:nvSpPr>
        <p:spPr>
          <a:xfrm>
            <a:off x="3728466" y="2990088"/>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Vectorized in ChromaDB</a:t>
            </a:r>
            <a:endParaRPr lang="en-US" sz="1100" dirty="0"/>
          </a:p>
        </p:txBody>
      </p:sp>
      <p:sp>
        <p:nvSpPr>
          <p:cNvPr id="14" name="Shape 10"/>
          <p:cNvSpPr/>
          <p:nvPr/>
        </p:nvSpPr>
        <p:spPr>
          <a:xfrm>
            <a:off x="6231636" y="1691640"/>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15" name="Image 2" descr="assets/ic_importance.png">    </p:cNvPr>
          <p:cNvPicPr>
            <a:picLocks noChangeAspect="1"/>
          </p:cNvPicPr>
          <p:nvPr/>
        </p:nvPicPr>
        <p:blipFill>
          <a:blip r:embed="rId4"/>
          <a:stretch>
            <a:fillRect/>
          </a:stretch>
        </p:blipFill>
        <p:spPr>
          <a:xfrm>
            <a:off x="6432804" y="1892808"/>
            <a:ext cx="566928" cy="566928"/>
          </a:xfrm>
          <a:prstGeom prst="rect">
            <a:avLst/>
          </a:prstGeom>
        </p:spPr>
      </p:pic>
      <p:sp>
        <p:nvSpPr>
          <p:cNvPr id="16" name="Text 11"/>
          <p:cNvSpPr/>
          <p:nvPr/>
        </p:nvSpPr>
        <p:spPr>
          <a:xfrm>
            <a:off x="7975854" y="1828800"/>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03</a:t>
            </a:r>
            <a:endParaRPr lang="en-US" sz="1600" dirty="0"/>
          </a:p>
        </p:txBody>
      </p:sp>
      <p:sp>
        <p:nvSpPr>
          <p:cNvPr id="17" name="Text 12"/>
          <p:cNvSpPr/>
          <p:nvPr/>
        </p:nvSpPr>
        <p:spPr>
          <a:xfrm>
            <a:off x="6432804" y="2587752"/>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Importance Score</a:t>
            </a:r>
            <a:endParaRPr lang="en-US" sz="1450" dirty="0"/>
          </a:p>
        </p:txBody>
      </p:sp>
      <p:sp>
        <p:nvSpPr>
          <p:cNvPr id="18" name="Text 13"/>
          <p:cNvSpPr/>
          <p:nvPr/>
        </p:nvSpPr>
        <p:spPr>
          <a:xfrm>
            <a:off x="6432804" y="2990088"/>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Weighted by relevance</a:t>
            </a:r>
            <a:endParaRPr lang="en-US" sz="1100" dirty="0"/>
          </a:p>
        </p:txBody>
      </p:sp>
      <p:sp>
        <p:nvSpPr>
          <p:cNvPr id="19" name="Shape 14"/>
          <p:cNvSpPr/>
          <p:nvPr/>
        </p:nvSpPr>
        <p:spPr>
          <a:xfrm>
            <a:off x="8935974" y="1691640"/>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20" name="Image 3" descr="assets/ic_retrieval.png">    </p:cNvPr>
          <p:cNvPicPr>
            <a:picLocks noChangeAspect="1"/>
          </p:cNvPicPr>
          <p:nvPr/>
        </p:nvPicPr>
        <p:blipFill>
          <a:blip r:embed="rId5"/>
          <a:stretch>
            <a:fillRect/>
          </a:stretch>
        </p:blipFill>
        <p:spPr>
          <a:xfrm>
            <a:off x="9137142" y="1892808"/>
            <a:ext cx="566928" cy="566928"/>
          </a:xfrm>
          <a:prstGeom prst="rect">
            <a:avLst/>
          </a:prstGeom>
        </p:spPr>
      </p:pic>
      <p:sp>
        <p:nvSpPr>
          <p:cNvPr id="21" name="Text 15"/>
          <p:cNvSpPr/>
          <p:nvPr/>
        </p:nvSpPr>
        <p:spPr>
          <a:xfrm>
            <a:off x="10680192" y="1828800"/>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04</a:t>
            </a:r>
            <a:endParaRPr lang="en-US" sz="1600" dirty="0"/>
          </a:p>
        </p:txBody>
      </p:sp>
      <p:sp>
        <p:nvSpPr>
          <p:cNvPr id="22" name="Text 16"/>
          <p:cNvSpPr/>
          <p:nvPr/>
        </p:nvSpPr>
        <p:spPr>
          <a:xfrm>
            <a:off x="9137142" y="2587752"/>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Retrieval</a:t>
            </a:r>
            <a:endParaRPr lang="en-US" sz="1450" dirty="0"/>
          </a:p>
        </p:txBody>
      </p:sp>
      <p:sp>
        <p:nvSpPr>
          <p:cNvPr id="23" name="Text 17"/>
          <p:cNvSpPr/>
          <p:nvPr/>
        </p:nvSpPr>
        <p:spPr>
          <a:xfrm>
            <a:off x="9137142" y="2990088"/>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Cosine similarity search</a:t>
            </a:r>
            <a:endParaRPr lang="en-US" sz="1100" dirty="0"/>
          </a:p>
        </p:txBody>
      </p:sp>
      <p:sp>
        <p:nvSpPr>
          <p:cNvPr id="24" name="Shape 18"/>
          <p:cNvSpPr/>
          <p:nvPr/>
        </p:nvSpPr>
        <p:spPr>
          <a:xfrm>
            <a:off x="822960" y="3776472"/>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25" name="Image 4" descr="assets/ic_update.png">    </p:cNvPr>
          <p:cNvPicPr>
            <a:picLocks noChangeAspect="1"/>
          </p:cNvPicPr>
          <p:nvPr/>
        </p:nvPicPr>
        <p:blipFill>
          <a:blip r:embed="rId6"/>
          <a:stretch>
            <a:fillRect/>
          </a:stretch>
        </p:blipFill>
        <p:spPr>
          <a:xfrm>
            <a:off x="1024128" y="3977640"/>
            <a:ext cx="566928" cy="566928"/>
          </a:xfrm>
          <a:prstGeom prst="rect">
            <a:avLst/>
          </a:prstGeom>
        </p:spPr>
      </p:pic>
      <p:sp>
        <p:nvSpPr>
          <p:cNvPr id="26" name="Text 19"/>
          <p:cNvSpPr/>
          <p:nvPr/>
        </p:nvSpPr>
        <p:spPr>
          <a:xfrm>
            <a:off x="2567178" y="3913632"/>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05</a:t>
            </a:r>
            <a:endParaRPr lang="en-US" sz="1600" dirty="0"/>
          </a:p>
        </p:txBody>
      </p:sp>
      <p:sp>
        <p:nvSpPr>
          <p:cNvPr id="27" name="Text 20"/>
          <p:cNvSpPr/>
          <p:nvPr/>
        </p:nvSpPr>
        <p:spPr>
          <a:xfrm>
            <a:off x="1024128" y="4672584"/>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Update / Supersede</a:t>
            </a:r>
            <a:endParaRPr lang="en-US" sz="1450" dirty="0"/>
          </a:p>
        </p:txBody>
      </p:sp>
      <p:sp>
        <p:nvSpPr>
          <p:cNvPr id="28" name="Text 21"/>
          <p:cNvSpPr/>
          <p:nvPr/>
        </p:nvSpPr>
        <p:spPr>
          <a:xfrm>
            <a:off x="1024128" y="5074920"/>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New facts replace old</a:t>
            </a:r>
            <a:endParaRPr lang="en-US" sz="1100" dirty="0"/>
          </a:p>
        </p:txBody>
      </p:sp>
      <p:sp>
        <p:nvSpPr>
          <p:cNvPr id="29" name="Shape 22"/>
          <p:cNvSpPr/>
          <p:nvPr/>
        </p:nvSpPr>
        <p:spPr>
          <a:xfrm>
            <a:off x="3527298" y="3776472"/>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30" name="Image 5" descr="assets/ic_decay.png">    </p:cNvPr>
          <p:cNvPicPr>
            <a:picLocks noChangeAspect="1"/>
          </p:cNvPicPr>
          <p:nvPr/>
        </p:nvPicPr>
        <p:blipFill>
          <a:blip r:embed="rId7"/>
          <a:stretch>
            <a:fillRect/>
          </a:stretch>
        </p:blipFill>
        <p:spPr>
          <a:xfrm>
            <a:off x="3728466" y="3977640"/>
            <a:ext cx="566928" cy="566928"/>
          </a:xfrm>
          <a:prstGeom prst="rect">
            <a:avLst/>
          </a:prstGeom>
        </p:spPr>
      </p:pic>
      <p:sp>
        <p:nvSpPr>
          <p:cNvPr id="31" name="Text 23"/>
          <p:cNvSpPr/>
          <p:nvPr/>
        </p:nvSpPr>
        <p:spPr>
          <a:xfrm>
            <a:off x="5271516" y="3913632"/>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06</a:t>
            </a:r>
            <a:endParaRPr lang="en-US" sz="1600" dirty="0"/>
          </a:p>
        </p:txBody>
      </p:sp>
      <p:sp>
        <p:nvSpPr>
          <p:cNvPr id="32" name="Text 24"/>
          <p:cNvSpPr/>
          <p:nvPr/>
        </p:nvSpPr>
        <p:spPr>
          <a:xfrm>
            <a:off x="3728466" y="4672584"/>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Decay</a:t>
            </a:r>
            <a:endParaRPr lang="en-US" sz="1450" dirty="0"/>
          </a:p>
        </p:txBody>
      </p:sp>
      <p:sp>
        <p:nvSpPr>
          <p:cNvPr id="33" name="Text 25"/>
          <p:cNvSpPr/>
          <p:nvPr/>
        </p:nvSpPr>
        <p:spPr>
          <a:xfrm>
            <a:off x="3728466" y="5074920"/>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Low-value memories fade</a:t>
            </a:r>
            <a:endParaRPr lang="en-US" sz="1100" dirty="0"/>
          </a:p>
        </p:txBody>
      </p:sp>
      <p:sp>
        <p:nvSpPr>
          <p:cNvPr id="34" name="Shape 26"/>
          <p:cNvSpPr/>
          <p:nvPr/>
        </p:nvSpPr>
        <p:spPr>
          <a:xfrm>
            <a:off x="6231636" y="3776472"/>
            <a:ext cx="2430018" cy="1828800"/>
          </a:xfrm>
          <a:prstGeom prst="roundRect">
            <a:avLst>
              <a:gd name="adj" fmla="val 7000"/>
            </a:avLst>
          </a:prstGeom>
          <a:solidFill>
            <a:srgbClr val="241854"/>
          </a:solidFill>
          <a:ln w="12700">
            <a:solidFill>
              <a:srgbClr val="473A82"/>
            </a:solidFill>
            <a:prstDash val="solid"/>
          </a:ln>
          <a:effectLst>
            <a:outerShdw sx="100000" sy="100000" kx="0" ky="0" algn="bl" rotWithShape="0" blurRad="152400" dist="38100" dir="5400000">
              <a:srgbClr val="000000">
                <a:alpha val="35000"/>
              </a:srgbClr>
            </a:outerShdw>
          </a:effectLst>
        </p:spPr>
      </p:sp>
      <p:pic>
        <p:nvPicPr>
          <p:cNvPr id="35" name="Image 6" descr="assets/ic_recall.png">    </p:cNvPr>
          <p:cNvPicPr>
            <a:picLocks noChangeAspect="1"/>
          </p:cNvPicPr>
          <p:nvPr/>
        </p:nvPicPr>
        <p:blipFill>
          <a:blip r:embed="rId8"/>
          <a:stretch>
            <a:fillRect/>
          </a:stretch>
        </p:blipFill>
        <p:spPr>
          <a:xfrm>
            <a:off x="6432804" y="3977640"/>
            <a:ext cx="566928" cy="566928"/>
          </a:xfrm>
          <a:prstGeom prst="rect">
            <a:avLst/>
          </a:prstGeom>
        </p:spPr>
      </p:pic>
      <p:sp>
        <p:nvSpPr>
          <p:cNvPr id="36" name="Text 27"/>
          <p:cNvSpPr/>
          <p:nvPr/>
        </p:nvSpPr>
        <p:spPr>
          <a:xfrm>
            <a:off x="7975854" y="3913632"/>
            <a:ext cx="548640" cy="365760"/>
          </a:xfrm>
          <a:prstGeom prst="rect">
            <a:avLst/>
          </a:prstGeom>
          <a:noFill/>
          <a:ln/>
        </p:spPr>
        <p:txBody>
          <a:bodyPr wrap="square" rtlCol="0" anchor="ctr"/>
          <a:lstStyle/>
          <a:p>
            <a:pPr algn="r" indent="0" marL="0">
              <a:buNone/>
            </a:pPr>
            <a:r>
              <a:rPr lang="en-US" sz="1600" b="1" dirty="0">
                <a:solidFill>
                  <a:srgbClr val="5D4E9C"/>
                </a:solidFill>
                <a:latin typeface="Cambria" pitchFamily="34" charset="0"/>
                <a:ea typeface="Cambria" pitchFamily="34" charset="-122"/>
                <a:cs typeface="Cambria" pitchFamily="34" charset="-120"/>
              </a:rPr>
              <a:t>07</a:t>
            </a:r>
            <a:endParaRPr lang="en-US" sz="1600" dirty="0"/>
          </a:p>
        </p:txBody>
      </p:sp>
      <p:sp>
        <p:nvSpPr>
          <p:cNvPr id="37" name="Text 28"/>
          <p:cNvSpPr/>
          <p:nvPr/>
        </p:nvSpPr>
        <p:spPr>
          <a:xfrm>
            <a:off x="6432804" y="4672584"/>
            <a:ext cx="2064258" cy="41148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Recall</a:t>
            </a:r>
            <a:endParaRPr lang="en-US" sz="1450" dirty="0"/>
          </a:p>
        </p:txBody>
      </p:sp>
      <p:sp>
        <p:nvSpPr>
          <p:cNvPr id="38" name="Text 29"/>
          <p:cNvSpPr/>
          <p:nvPr/>
        </p:nvSpPr>
        <p:spPr>
          <a:xfrm>
            <a:off x="6432804" y="5074920"/>
            <a:ext cx="2064258" cy="457200"/>
          </a:xfrm>
          <a:prstGeom prst="rect">
            <a:avLst/>
          </a:prstGeom>
          <a:noFill/>
          <a:ln/>
        </p:spPr>
        <p:txBody>
          <a:bodyPr wrap="square" rtlCol="0" anchor="ctr"/>
          <a:lstStyle/>
          <a:p>
            <a:pPr indent="0" marL="0">
              <a:buNone/>
            </a:pPr>
            <a:r>
              <a:rPr lang="en-US" sz="1100" dirty="0">
                <a:solidFill>
                  <a:srgbClr val="9CA6C9"/>
                </a:solidFill>
                <a:latin typeface="Calibri" pitchFamily="34" charset="0"/>
                <a:ea typeface="Calibri" pitchFamily="34" charset="-122"/>
                <a:cs typeface="Calibri" pitchFamily="34" charset="-120"/>
              </a:rPr>
              <a:t>Surfaces in the answer</a:t>
            </a:r>
            <a:endParaRPr lang="en-US" sz="1100" dirty="0"/>
          </a:p>
        </p:txBody>
      </p:sp>
      <p:sp>
        <p:nvSpPr>
          <p:cNvPr id="39" name="Shape 30"/>
          <p:cNvSpPr/>
          <p:nvPr/>
        </p:nvSpPr>
        <p:spPr>
          <a:xfrm>
            <a:off x="8935974" y="3776472"/>
            <a:ext cx="2430018" cy="1828800"/>
          </a:xfrm>
          <a:prstGeom prst="roundRect">
            <a:avLst>
              <a:gd name="adj" fmla="val 7000"/>
            </a:avLst>
          </a:prstGeom>
          <a:solidFill>
            <a:srgbClr val="12173A"/>
          </a:solidFill>
          <a:ln w="12700">
            <a:solidFill>
              <a:srgbClr val="2E3564"/>
            </a:solidFill>
            <a:prstDash val="solid"/>
          </a:ln>
          <a:effectLst>
            <a:outerShdw sx="100000" sy="100000" kx="0" ky="0" algn="bl" rotWithShape="0" blurRad="152400" dist="38100" dir="5400000">
              <a:srgbClr val="000000">
                <a:alpha val="35000"/>
              </a:srgbClr>
            </a:outerShdw>
          </a:effectLst>
        </p:spPr>
      </p:sp>
      <p:sp>
        <p:nvSpPr>
          <p:cNvPr id="40" name="Text 31"/>
          <p:cNvSpPr/>
          <p:nvPr/>
        </p:nvSpPr>
        <p:spPr>
          <a:xfrm>
            <a:off x="9118854" y="3776472"/>
            <a:ext cx="2064258" cy="1828800"/>
          </a:xfrm>
          <a:prstGeom prst="rect">
            <a:avLst/>
          </a:prstGeom>
          <a:noFill/>
          <a:ln/>
        </p:spPr>
        <p:txBody>
          <a:bodyPr wrap="square" rtlCol="0" anchor="ctr"/>
          <a:lstStyle/>
          <a:p>
            <a:pPr algn="ctr" indent="0" marL="0">
              <a:buNone/>
            </a:pPr>
            <a:r>
              <a:rPr lang="en-US" sz="1350" i="1" dirty="0">
                <a:solidFill>
                  <a:srgbClr val="60A5FA"/>
                </a:solidFill>
                <a:latin typeface="Calibri" pitchFamily="34" charset="0"/>
                <a:ea typeface="Calibri" pitchFamily="34" charset="-122"/>
                <a:cs typeface="Calibri" pitchFamily="34" charset="-120"/>
              </a:rPr>
              <a:t>The loop repeats</a:t>
            </a:r>
            <a:endParaRPr lang="en-US" sz="1350" dirty="0"/>
          </a:p>
          <a:p>
            <a:pPr algn="ctr" indent="0" marL="0">
              <a:buNone/>
            </a:pPr>
            <a:r>
              <a:rPr lang="en-US" sz="1350" i="1" dirty="0">
                <a:solidFill>
                  <a:srgbClr val="60A5FA"/>
                </a:solidFill>
                <a:latin typeface="Calibri" pitchFamily="34" charset="0"/>
                <a:ea typeface="Calibri" pitchFamily="34" charset="-122"/>
                <a:cs typeface="Calibri" pitchFamily="34" charset="-120"/>
              </a:rPr>
              <a:t>every session.</a:t>
            </a:r>
            <a:endParaRPr lang="en-US" sz="1350" dirty="0"/>
          </a:p>
        </p:txBody>
      </p:sp>
      <p:sp>
        <p:nvSpPr>
          <p:cNvPr id="41" name="Text 32"/>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6 / 11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FB923C"/>
                </a:solidFill>
                <a:latin typeface="Calibri" pitchFamily="34" charset="0"/>
                <a:ea typeface="Calibri" pitchFamily="34" charset="-122"/>
                <a:cs typeface="Calibri" pitchFamily="34" charset="-120"/>
              </a:rPr>
              <a:t>THE PRODUCT</a:t>
            </a:r>
            <a:endParaRPr lang="en-US" sz="1300" dirty="0"/>
          </a:p>
        </p:txBody>
      </p:sp>
      <p:sp>
        <p:nvSpPr>
          <p:cNvPr id="3" name="Text 1"/>
          <p:cNvSpPr/>
          <p:nvPr/>
        </p:nvSpPr>
        <p:spPr>
          <a:xfrm>
            <a:off x="822960" y="1005840"/>
            <a:ext cx="9601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Built for daily use — not a demo script.</a:t>
            </a:r>
            <a:endParaRPr lang="en-US" sz="2700" dirty="0"/>
          </a:p>
        </p:txBody>
      </p:sp>
      <p:sp>
        <p:nvSpPr>
          <p:cNvPr id="4" name="Shape 2"/>
          <p:cNvSpPr/>
          <p:nvPr/>
        </p:nvSpPr>
        <p:spPr>
          <a:xfrm>
            <a:off x="822960" y="2606040"/>
            <a:ext cx="2084832" cy="3246120"/>
          </a:xfrm>
          <a:prstGeom prst="roundRect">
            <a:avLst>
              <a:gd name="adj" fmla="val 614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5" name="Image 0" descr="assets/ic_dashboard.png">    </p:cNvPr>
          <p:cNvPicPr>
            <a:picLocks noChangeAspect="1"/>
          </p:cNvPicPr>
          <p:nvPr/>
        </p:nvPicPr>
        <p:blipFill>
          <a:blip r:embed="rId2"/>
          <a:stretch>
            <a:fillRect/>
          </a:stretch>
        </p:blipFill>
        <p:spPr>
          <a:xfrm>
            <a:off x="1453896" y="2880360"/>
            <a:ext cx="822960" cy="822960"/>
          </a:xfrm>
          <a:prstGeom prst="rect">
            <a:avLst/>
          </a:prstGeom>
        </p:spPr>
      </p:pic>
      <p:sp>
        <p:nvSpPr>
          <p:cNvPr id="6" name="Text 3"/>
          <p:cNvSpPr/>
          <p:nvPr/>
        </p:nvSpPr>
        <p:spPr>
          <a:xfrm>
            <a:off x="960120" y="3840480"/>
            <a:ext cx="1810512" cy="68580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7" name="Text 4"/>
          <p:cNvSpPr/>
          <p:nvPr/>
        </p:nvSpPr>
        <p:spPr>
          <a:xfrm>
            <a:off x="978408" y="4617720"/>
            <a:ext cx="1773936" cy="1005840"/>
          </a:xfrm>
          <a:prstGeom prst="rect">
            <a:avLst/>
          </a:prstGeom>
          <a:noFill/>
          <a:ln/>
        </p:spPr>
        <p:txBody>
          <a:bodyPr wrap="square" rtlCol="0" anchor="t"/>
          <a:lstStyle/>
          <a:p>
            <a:pPr algn="ctr" indent="0" marL="0">
              <a:buNone/>
            </a:pPr>
            <a:r>
              <a:rPr lang="en-US" sz="1050" dirty="0">
                <a:solidFill>
                  <a:srgbClr val="9CA6C9"/>
                </a:solidFill>
                <a:latin typeface="Calibri" pitchFamily="34" charset="0"/>
                <a:ea typeface="Calibri" pitchFamily="34" charset="-122"/>
                <a:cs typeface="Calibri" pitchFamily="34" charset="-120"/>
              </a:rPr>
              <a:t>Skills, goals &amp; memory stats at a glance</a:t>
            </a:r>
            <a:endParaRPr lang="en-US" sz="1050" dirty="0"/>
          </a:p>
        </p:txBody>
      </p:sp>
      <p:sp>
        <p:nvSpPr>
          <p:cNvPr id="8" name="Shape 5"/>
          <p:cNvSpPr/>
          <p:nvPr/>
        </p:nvSpPr>
        <p:spPr>
          <a:xfrm>
            <a:off x="3090672" y="2606040"/>
            <a:ext cx="2084832" cy="3246120"/>
          </a:xfrm>
          <a:prstGeom prst="roundRect">
            <a:avLst>
              <a:gd name="adj" fmla="val 614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9" name="Image 1" descr="assets/ic_upload.png">    </p:cNvPr>
          <p:cNvPicPr>
            <a:picLocks noChangeAspect="1"/>
          </p:cNvPicPr>
          <p:nvPr/>
        </p:nvPicPr>
        <p:blipFill>
          <a:blip r:embed="rId3"/>
          <a:stretch>
            <a:fillRect/>
          </a:stretch>
        </p:blipFill>
        <p:spPr>
          <a:xfrm>
            <a:off x="3721608" y="2880360"/>
            <a:ext cx="822960" cy="822960"/>
          </a:xfrm>
          <a:prstGeom prst="rect">
            <a:avLst/>
          </a:prstGeom>
        </p:spPr>
      </p:pic>
      <p:sp>
        <p:nvSpPr>
          <p:cNvPr id="10" name="Text 6"/>
          <p:cNvSpPr/>
          <p:nvPr/>
        </p:nvSpPr>
        <p:spPr>
          <a:xfrm>
            <a:off x="3227832" y="3840480"/>
            <a:ext cx="1810512" cy="68580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Resume Upload</a:t>
            </a:r>
            <a:endParaRPr lang="en-US" sz="1400" dirty="0"/>
          </a:p>
        </p:txBody>
      </p:sp>
      <p:sp>
        <p:nvSpPr>
          <p:cNvPr id="11" name="Text 7"/>
          <p:cNvSpPr/>
          <p:nvPr/>
        </p:nvSpPr>
        <p:spPr>
          <a:xfrm>
            <a:off x="3246120" y="4617720"/>
            <a:ext cx="1773936" cy="1005840"/>
          </a:xfrm>
          <a:prstGeom prst="rect">
            <a:avLst/>
          </a:prstGeom>
          <a:noFill/>
          <a:ln/>
        </p:spPr>
        <p:txBody>
          <a:bodyPr wrap="square" rtlCol="0" anchor="t"/>
          <a:lstStyle/>
          <a:p>
            <a:pPr algn="ctr" indent="0" marL="0">
              <a:buNone/>
            </a:pPr>
            <a:r>
              <a:rPr lang="en-US" sz="1050" dirty="0">
                <a:solidFill>
                  <a:srgbClr val="9CA6C9"/>
                </a:solidFill>
                <a:latin typeface="Calibri" pitchFamily="34" charset="0"/>
                <a:ea typeface="Calibri" pitchFamily="34" charset="-122"/>
                <a:cs typeface="Calibri" pitchFamily="34" charset="-120"/>
              </a:rPr>
              <a:t>PDF → Qwen extraction → structured profile</a:t>
            </a:r>
            <a:endParaRPr lang="en-US" sz="1050" dirty="0"/>
          </a:p>
        </p:txBody>
      </p:sp>
      <p:sp>
        <p:nvSpPr>
          <p:cNvPr id="12" name="Shape 8"/>
          <p:cNvSpPr/>
          <p:nvPr/>
        </p:nvSpPr>
        <p:spPr>
          <a:xfrm>
            <a:off x="5358384" y="2606040"/>
            <a:ext cx="2084832" cy="3246120"/>
          </a:xfrm>
          <a:prstGeom prst="roundRect">
            <a:avLst>
              <a:gd name="adj" fmla="val 614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13" name="Image 2" descr="assets/ic_timeline.png">    </p:cNvPr>
          <p:cNvPicPr>
            <a:picLocks noChangeAspect="1"/>
          </p:cNvPicPr>
          <p:nvPr/>
        </p:nvPicPr>
        <p:blipFill>
          <a:blip r:embed="rId4"/>
          <a:stretch>
            <a:fillRect/>
          </a:stretch>
        </p:blipFill>
        <p:spPr>
          <a:xfrm>
            <a:off x="5989320" y="2880360"/>
            <a:ext cx="822960" cy="822960"/>
          </a:xfrm>
          <a:prstGeom prst="rect">
            <a:avLst/>
          </a:prstGeom>
        </p:spPr>
      </p:pic>
      <p:sp>
        <p:nvSpPr>
          <p:cNvPr id="14" name="Text 9"/>
          <p:cNvSpPr/>
          <p:nvPr/>
        </p:nvSpPr>
        <p:spPr>
          <a:xfrm>
            <a:off x="5495544" y="3840480"/>
            <a:ext cx="1810512" cy="68580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Memory Timeline</a:t>
            </a:r>
            <a:endParaRPr lang="en-US" sz="1400" dirty="0"/>
          </a:p>
        </p:txBody>
      </p:sp>
      <p:sp>
        <p:nvSpPr>
          <p:cNvPr id="15" name="Text 10"/>
          <p:cNvSpPr/>
          <p:nvPr/>
        </p:nvSpPr>
        <p:spPr>
          <a:xfrm>
            <a:off x="5513832" y="4617720"/>
            <a:ext cx="1773936" cy="1005840"/>
          </a:xfrm>
          <a:prstGeom prst="rect">
            <a:avLst/>
          </a:prstGeom>
          <a:noFill/>
          <a:ln/>
        </p:spPr>
        <p:txBody>
          <a:bodyPr wrap="square" rtlCol="0" anchor="t"/>
          <a:lstStyle/>
          <a:p>
            <a:pPr algn="ctr" indent="0" marL="0">
              <a:buNone/>
            </a:pPr>
            <a:r>
              <a:rPr lang="en-US" sz="1050" dirty="0">
                <a:solidFill>
                  <a:srgbClr val="9CA6C9"/>
                </a:solidFill>
                <a:latin typeface="Calibri" pitchFamily="34" charset="0"/>
                <a:ea typeface="Calibri" pitchFamily="34" charset="-122"/>
                <a:cs typeface="Calibri" pitchFamily="34" charset="-120"/>
              </a:rPr>
              <a:t>See how the mentor's knowledge evolves</a:t>
            </a:r>
            <a:endParaRPr lang="en-US" sz="1050" dirty="0"/>
          </a:p>
        </p:txBody>
      </p:sp>
      <p:sp>
        <p:nvSpPr>
          <p:cNvPr id="16" name="Shape 11"/>
          <p:cNvSpPr/>
          <p:nvPr/>
        </p:nvSpPr>
        <p:spPr>
          <a:xfrm>
            <a:off x="7626096" y="2606040"/>
            <a:ext cx="2084832" cy="3246120"/>
          </a:xfrm>
          <a:prstGeom prst="roundRect">
            <a:avLst>
              <a:gd name="adj" fmla="val 614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17" name="Image 3" descr="assets/ic_recommend.png">    </p:cNvPr>
          <p:cNvPicPr>
            <a:picLocks noChangeAspect="1"/>
          </p:cNvPicPr>
          <p:nvPr/>
        </p:nvPicPr>
        <p:blipFill>
          <a:blip r:embed="rId5"/>
          <a:stretch>
            <a:fillRect/>
          </a:stretch>
        </p:blipFill>
        <p:spPr>
          <a:xfrm>
            <a:off x="8257032" y="2880360"/>
            <a:ext cx="822960" cy="822960"/>
          </a:xfrm>
          <a:prstGeom prst="rect">
            <a:avLst/>
          </a:prstGeom>
        </p:spPr>
      </p:pic>
      <p:sp>
        <p:nvSpPr>
          <p:cNvPr id="18" name="Text 12"/>
          <p:cNvSpPr/>
          <p:nvPr/>
        </p:nvSpPr>
        <p:spPr>
          <a:xfrm>
            <a:off x="7763256" y="3840480"/>
            <a:ext cx="1810512" cy="68580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AI Recommendations</a:t>
            </a:r>
            <a:endParaRPr lang="en-US" sz="1400" dirty="0"/>
          </a:p>
        </p:txBody>
      </p:sp>
      <p:sp>
        <p:nvSpPr>
          <p:cNvPr id="19" name="Text 13"/>
          <p:cNvSpPr/>
          <p:nvPr/>
        </p:nvSpPr>
        <p:spPr>
          <a:xfrm>
            <a:off x="7781544" y="4617720"/>
            <a:ext cx="1773936" cy="1005840"/>
          </a:xfrm>
          <a:prstGeom prst="rect">
            <a:avLst/>
          </a:prstGeom>
          <a:noFill/>
          <a:ln/>
        </p:spPr>
        <p:txBody>
          <a:bodyPr wrap="square" rtlCol="0" anchor="t"/>
          <a:lstStyle/>
          <a:p>
            <a:pPr algn="ctr" indent="0" marL="0">
              <a:buNone/>
            </a:pPr>
            <a:r>
              <a:rPr lang="en-US" sz="1050" dirty="0">
                <a:solidFill>
                  <a:srgbClr val="9CA6C9"/>
                </a:solidFill>
                <a:latin typeface="Calibri" pitchFamily="34" charset="0"/>
                <a:ea typeface="Calibri" pitchFamily="34" charset="-122"/>
                <a:cs typeface="Calibri" pitchFamily="34" charset="-120"/>
              </a:rPr>
              <a:t>Roadmaps grounded in retrieved memory</a:t>
            </a:r>
            <a:endParaRPr lang="en-US" sz="1050" dirty="0"/>
          </a:p>
        </p:txBody>
      </p:sp>
      <p:sp>
        <p:nvSpPr>
          <p:cNvPr id="20" name="Shape 14"/>
          <p:cNvSpPr/>
          <p:nvPr/>
        </p:nvSpPr>
        <p:spPr>
          <a:xfrm>
            <a:off x="9893808" y="2606040"/>
            <a:ext cx="2084832" cy="3246120"/>
          </a:xfrm>
          <a:prstGeom prst="roundRect">
            <a:avLst>
              <a:gd name="adj" fmla="val 614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21" name="Image 4" descr="assets/ic_goals.png">    </p:cNvPr>
          <p:cNvPicPr>
            <a:picLocks noChangeAspect="1"/>
          </p:cNvPicPr>
          <p:nvPr/>
        </p:nvPicPr>
        <p:blipFill>
          <a:blip r:embed="rId6"/>
          <a:stretch>
            <a:fillRect/>
          </a:stretch>
        </p:blipFill>
        <p:spPr>
          <a:xfrm>
            <a:off x="10524744" y="2880360"/>
            <a:ext cx="822960" cy="822960"/>
          </a:xfrm>
          <a:prstGeom prst="rect">
            <a:avLst/>
          </a:prstGeom>
        </p:spPr>
      </p:pic>
      <p:sp>
        <p:nvSpPr>
          <p:cNvPr id="22" name="Text 15"/>
          <p:cNvSpPr/>
          <p:nvPr/>
        </p:nvSpPr>
        <p:spPr>
          <a:xfrm>
            <a:off x="10030968" y="3840480"/>
            <a:ext cx="1810512" cy="685800"/>
          </a:xfrm>
          <a:prstGeom prst="rect">
            <a:avLst/>
          </a:prstGeom>
          <a:noFill/>
          <a:ln/>
        </p:spPr>
        <p:txBody>
          <a:bodyPr wrap="square"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Career Goals</a:t>
            </a:r>
            <a:endParaRPr lang="en-US" sz="1400" dirty="0"/>
          </a:p>
        </p:txBody>
      </p:sp>
      <p:sp>
        <p:nvSpPr>
          <p:cNvPr id="23" name="Text 16"/>
          <p:cNvSpPr/>
          <p:nvPr/>
        </p:nvSpPr>
        <p:spPr>
          <a:xfrm>
            <a:off x="10049256" y="4617720"/>
            <a:ext cx="1773936" cy="1005840"/>
          </a:xfrm>
          <a:prstGeom prst="rect">
            <a:avLst/>
          </a:prstGeom>
          <a:noFill/>
          <a:ln/>
        </p:spPr>
        <p:txBody>
          <a:bodyPr wrap="square" rtlCol="0" anchor="t"/>
          <a:lstStyle/>
          <a:p>
            <a:pPr algn="ctr" indent="0" marL="0">
              <a:buNone/>
            </a:pPr>
            <a:r>
              <a:rPr lang="en-US" sz="1050" dirty="0">
                <a:solidFill>
                  <a:srgbClr val="9CA6C9"/>
                </a:solidFill>
                <a:latin typeface="Calibri" pitchFamily="34" charset="0"/>
                <a:ea typeface="Calibri" pitchFamily="34" charset="-122"/>
                <a:cs typeface="Calibri" pitchFamily="34" charset="-120"/>
              </a:rPr>
              <a:t>New goals supersede old ones, intact</a:t>
            </a:r>
            <a:endParaRPr lang="en-US" sz="1050" dirty="0"/>
          </a:p>
        </p:txBody>
      </p:sp>
      <p:sp>
        <p:nvSpPr>
          <p:cNvPr id="24" name="Text 17"/>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7 / 11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A855F7"/>
                </a:solidFill>
                <a:latin typeface="Calibri" pitchFamily="34" charset="0"/>
                <a:ea typeface="Calibri" pitchFamily="34" charset="-122"/>
                <a:cs typeface="Calibri" pitchFamily="34" charset="-120"/>
              </a:rPr>
              <a:t>WHY WE’RE DIFFERENT</a:t>
            </a:r>
            <a:endParaRPr lang="en-US" sz="1300" dirty="0"/>
          </a:p>
        </p:txBody>
      </p:sp>
      <p:sp>
        <p:nvSpPr>
          <p:cNvPr id="3" name="Text 1"/>
          <p:cNvSpPr/>
          <p:nvPr/>
        </p:nvSpPr>
        <p:spPr>
          <a:xfrm>
            <a:off x="822960" y="1005840"/>
            <a:ext cx="9601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Memory changes everything downstream.</a:t>
            </a:r>
            <a:endParaRPr lang="en-US" sz="2700" dirty="0"/>
          </a:p>
        </p:txBody>
      </p:sp>
      <p:sp>
        <p:nvSpPr>
          <p:cNvPr id="4" name="Shape 2"/>
          <p:cNvSpPr/>
          <p:nvPr/>
        </p:nvSpPr>
        <p:spPr>
          <a:xfrm>
            <a:off x="822960" y="1965960"/>
            <a:ext cx="5074920" cy="4160520"/>
          </a:xfrm>
          <a:prstGeom prst="roundRect">
            <a:avLst>
              <a:gd name="adj" fmla="val 3077"/>
            </a:avLst>
          </a:prstGeom>
          <a:solidFill>
            <a:srgbClr val="2E1520"/>
          </a:solidFill>
          <a:ln w="12700">
            <a:solidFill>
              <a:srgbClr val="5A2A38"/>
            </a:solidFill>
            <a:prstDash val="solid"/>
          </a:ln>
          <a:effectLst>
            <a:outerShdw sx="100000" sy="100000" kx="0" ky="0" algn="bl" rotWithShape="0" blurRad="152400" dist="38100" dir="5400000">
              <a:srgbClr val="000000">
                <a:alpha val="35000"/>
              </a:srgbClr>
            </a:outerShdw>
          </a:effectLst>
        </p:spPr>
      </p:sp>
      <p:sp>
        <p:nvSpPr>
          <p:cNvPr id="5" name="Text 3"/>
          <p:cNvSpPr/>
          <p:nvPr/>
        </p:nvSpPr>
        <p:spPr>
          <a:xfrm>
            <a:off x="1143000" y="2240280"/>
            <a:ext cx="4434840" cy="411480"/>
          </a:xfrm>
          <a:prstGeom prst="rect">
            <a:avLst/>
          </a:prstGeom>
          <a:noFill/>
          <a:ln/>
        </p:spPr>
        <p:txBody>
          <a:bodyPr wrap="square" rtlCol="0" anchor="ctr"/>
          <a:lstStyle/>
          <a:p>
            <a:pPr indent="0" marL="0">
              <a:buNone/>
            </a:pPr>
            <a:r>
              <a:rPr lang="en-US" sz="1500" b="1" spc="150" kern="0" dirty="0">
                <a:solidFill>
                  <a:srgbClr val="F87171"/>
                </a:solidFill>
                <a:latin typeface="Calibri" pitchFamily="34" charset="0"/>
                <a:ea typeface="Calibri" pitchFamily="34" charset="-122"/>
                <a:cs typeface="Calibri" pitchFamily="34" charset="-120"/>
              </a:rPr>
              <a:t>TRADITIONAL AI</a:t>
            </a:r>
            <a:endParaRPr lang="en-US" sz="1500" dirty="0"/>
          </a:p>
        </p:txBody>
      </p:sp>
      <p:pic>
        <p:nvPicPr>
          <p:cNvPr id="6" name="Image 0" descr="assets/ic_x.png">    </p:cNvPr>
          <p:cNvPicPr>
            <a:picLocks noChangeAspect="1"/>
          </p:cNvPicPr>
          <p:nvPr/>
        </p:nvPicPr>
        <p:blipFill>
          <a:blip r:embed="rId2"/>
          <a:stretch>
            <a:fillRect/>
          </a:stretch>
        </p:blipFill>
        <p:spPr>
          <a:xfrm>
            <a:off x="1143000" y="2926080"/>
            <a:ext cx="384048" cy="384048"/>
          </a:xfrm>
          <a:prstGeom prst="rect">
            <a:avLst/>
          </a:prstGeom>
        </p:spPr>
      </p:pic>
      <p:sp>
        <p:nvSpPr>
          <p:cNvPr id="7" name="Text 4"/>
          <p:cNvSpPr/>
          <p:nvPr/>
        </p:nvSpPr>
        <p:spPr>
          <a:xfrm>
            <a:off x="1691640" y="285292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No memory</a:t>
            </a:r>
            <a:endParaRPr lang="en-US" sz="1550" dirty="0"/>
          </a:p>
        </p:txBody>
      </p:sp>
      <p:pic>
        <p:nvPicPr>
          <p:cNvPr id="8" name="Image 1" descr="assets/ic_x.png">    </p:cNvPr>
          <p:cNvPicPr>
            <a:picLocks noChangeAspect="1"/>
          </p:cNvPicPr>
          <p:nvPr/>
        </p:nvPicPr>
        <p:blipFill>
          <a:blip r:embed="rId3"/>
          <a:stretch>
            <a:fillRect/>
          </a:stretch>
        </p:blipFill>
        <p:spPr>
          <a:xfrm>
            <a:off x="1143000" y="3886200"/>
            <a:ext cx="384048" cy="384048"/>
          </a:xfrm>
          <a:prstGeom prst="rect">
            <a:avLst/>
          </a:prstGeom>
        </p:spPr>
      </p:pic>
      <p:sp>
        <p:nvSpPr>
          <p:cNvPr id="9" name="Text 5"/>
          <p:cNvSpPr/>
          <p:nvPr/>
        </p:nvSpPr>
        <p:spPr>
          <a:xfrm>
            <a:off x="1691640" y="381304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Repeated prompts every session</a:t>
            </a:r>
            <a:endParaRPr lang="en-US" sz="1550" dirty="0"/>
          </a:p>
        </p:txBody>
      </p:sp>
      <p:pic>
        <p:nvPicPr>
          <p:cNvPr id="10" name="Image 2" descr="assets/ic_x.png">    </p:cNvPr>
          <p:cNvPicPr>
            <a:picLocks noChangeAspect="1"/>
          </p:cNvPicPr>
          <p:nvPr/>
        </p:nvPicPr>
        <p:blipFill>
          <a:blip r:embed="rId4"/>
          <a:stretch>
            <a:fillRect/>
          </a:stretch>
        </p:blipFill>
        <p:spPr>
          <a:xfrm>
            <a:off x="1143000" y="4846320"/>
            <a:ext cx="384048" cy="384048"/>
          </a:xfrm>
          <a:prstGeom prst="rect">
            <a:avLst/>
          </a:prstGeom>
        </p:spPr>
      </p:pic>
      <p:sp>
        <p:nvSpPr>
          <p:cNvPr id="11" name="Text 6"/>
          <p:cNvSpPr/>
          <p:nvPr/>
        </p:nvSpPr>
        <p:spPr>
          <a:xfrm>
            <a:off x="1691640" y="477316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Generic, one-size-fits-all advice</a:t>
            </a:r>
            <a:endParaRPr lang="en-US" sz="1550" dirty="0"/>
          </a:p>
        </p:txBody>
      </p:sp>
      <p:sp>
        <p:nvSpPr>
          <p:cNvPr id="12" name="Shape 7"/>
          <p:cNvSpPr/>
          <p:nvPr/>
        </p:nvSpPr>
        <p:spPr>
          <a:xfrm>
            <a:off x="6172200" y="1965960"/>
            <a:ext cx="5074920" cy="4160520"/>
          </a:xfrm>
          <a:prstGeom prst="roundRect">
            <a:avLst>
              <a:gd name="adj" fmla="val 3077"/>
            </a:avLst>
          </a:prstGeom>
          <a:solidFill>
            <a:srgbClr val="17301E"/>
          </a:solidFill>
          <a:ln w="12700">
            <a:solidFill>
              <a:srgbClr val="2E6B3E"/>
            </a:solidFill>
            <a:prstDash val="solid"/>
          </a:ln>
          <a:effectLst>
            <a:outerShdw sx="100000" sy="100000" kx="0" ky="0" algn="bl" rotWithShape="0" blurRad="152400" dist="38100" dir="5400000">
              <a:srgbClr val="000000">
                <a:alpha val="35000"/>
              </a:srgbClr>
            </a:outerShdw>
          </a:effectLst>
        </p:spPr>
      </p:sp>
      <p:sp>
        <p:nvSpPr>
          <p:cNvPr id="13" name="Text 8"/>
          <p:cNvSpPr/>
          <p:nvPr/>
        </p:nvSpPr>
        <p:spPr>
          <a:xfrm>
            <a:off x="6492240" y="2240280"/>
            <a:ext cx="4434840" cy="411480"/>
          </a:xfrm>
          <a:prstGeom prst="rect">
            <a:avLst/>
          </a:prstGeom>
          <a:noFill/>
          <a:ln/>
        </p:spPr>
        <p:txBody>
          <a:bodyPr wrap="square" rtlCol="0" anchor="ctr"/>
          <a:lstStyle/>
          <a:p>
            <a:pPr indent="0" marL="0">
              <a:buNone/>
            </a:pPr>
            <a:r>
              <a:rPr lang="en-US" sz="1500" b="1" spc="150" kern="0" dirty="0">
                <a:solidFill>
                  <a:srgbClr val="34D399"/>
                </a:solidFill>
                <a:latin typeface="Calibri" pitchFamily="34" charset="0"/>
                <a:ea typeface="Calibri" pitchFamily="34" charset="-122"/>
                <a:cs typeface="Calibri" pitchFamily="34" charset="-120"/>
              </a:rPr>
              <a:t>MENTOROS</a:t>
            </a:r>
            <a:endParaRPr lang="en-US" sz="1500" dirty="0"/>
          </a:p>
        </p:txBody>
      </p:sp>
      <p:pic>
        <p:nvPicPr>
          <p:cNvPr id="14" name="Image 3" descr="assets/ic_check.png">    </p:cNvPr>
          <p:cNvPicPr>
            <a:picLocks noChangeAspect="1"/>
          </p:cNvPicPr>
          <p:nvPr/>
        </p:nvPicPr>
        <p:blipFill>
          <a:blip r:embed="rId5"/>
          <a:stretch>
            <a:fillRect/>
          </a:stretch>
        </p:blipFill>
        <p:spPr>
          <a:xfrm>
            <a:off x="6492240" y="2926080"/>
            <a:ext cx="384048" cy="384048"/>
          </a:xfrm>
          <a:prstGeom prst="rect">
            <a:avLst/>
          </a:prstGeom>
        </p:spPr>
      </p:pic>
      <p:sp>
        <p:nvSpPr>
          <p:cNvPr id="15" name="Text 9"/>
          <p:cNvSpPr/>
          <p:nvPr/>
        </p:nvSpPr>
        <p:spPr>
          <a:xfrm>
            <a:off x="7040880" y="285292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Persistent memory, every session</a:t>
            </a:r>
            <a:endParaRPr lang="en-US" sz="1550" dirty="0"/>
          </a:p>
        </p:txBody>
      </p:sp>
      <p:pic>
        <p:nvPicPr>
          <p:cNvPr id="16" name="Image 4" descr="assets/ic_check.png">    </p:cNvPr>
          <p:cNvPicPr>
            <a:picLocks noChangeAspect="1"/>
          </p:cNvPicPr>
          <p:nvPr/>
        </p:nvPicPr>
        <p:blipFill>
          <a:blip r:embed="rId6"/>
          <a:stretch>
            <a:fillRect/>
          </a:stretch>
        </p:blipFill>
        <p:spPr>
          <a:xfrm>
            <a:off x="6492240" y="3886200"/>
            <a:ext cx="384048" cy="384048"/>
          </a:xfrm>
          <a:prstGeom prst="rect">
            <a:avLst/>
          </a:prstGeom>
        </p:spPr>
      </p:pic>
      <p:sp>
        <p:nvSpPr>
          <p:cNvPr id="17" name="Text 10"/>
          <p:cNvSpPr/>
          <p:nvPr/>
        </p:nvSpPr>
        <p:spPr>
          <a:xfrm>
            <a:off x="7040880" y="381304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Personalized from turn one</a:t>
            </a:r>
            <a:endParaRPr lang="en-US" sz="1550" dirty="0"/>
          </a:p>
        </p:txBody>
      </p:sp>
      <p:pic>
        <p:nvPicPr>
          <p:cNvPr id="18" name="Image 5" descr="assets/ic_check.png">    </p:cNvPr>
          <p:cNvPicPr>
            <a:picLocks noChangeAspect="1"/>
          </p:cNvPicPr>
          <p:nvPr/>
        </p:nvPicPr>
        <p:blipFill>
          <a:blip r:embed="rId7"/>
          <a:stretch>
            <a:fillRect/>
          </a:stretch>
        </p:blipFill>
        <p:spPr>
          <a:xfrm>
            <a:off x="6492240" y="4846320"/>
            <a:ext cx="384048" cy="384048"/>
          </a:xfrm>
          <a:prstGeom prst="rect">
            <a:avLst/>
          </a:prstGeom>
        </p:spPr>
      </p:pic>
      <p:sp>
        <p:nvSpPr>
          <p:cNvPr id="19" name="Text 11"/>
          <p:cNvSpPr/>
          <p:nvPr/>
        </p:nvSpPr>
        <p:spPr>
          <a:xfrm>
            <a:off x="7040880" y="4773168"/>
            <a:ext cx="3886200" cy="548640"/>
          </a:xfrm>
          <a:prstGeom prst="rect">
            <a:avLst/>
          </a:prstGeom>
          <a:noFill/>
          <a:ln/>
        </p:spPr>
        <p:txBody>
          <a:bodyPr wrap="square" rtlCol="0" anchor="ctr"/>
          <a:lstStyle/>
          <a:p>
            <a:pPr indent="0" marL="0">
              <a:buNone/>
            </a:pPr>
            <a:r>
              <a:rPr lang="en-US" sz="1550" dirty="0">
                <a:solidFill>
                  <a:srgbClr val="C7CEE6"/>
                </a:solidFill>
                <a:latin typeface="Calibri" pitchFamily="34" charset="0"/>
                <a:ea typeface="Calibri" pitchFamily="34" charset="-122"/>
                <a:cs typeface="Calibri" pitchFamily="34" charset="-120"/>
              </a:rPr>
              <a:t>Context-aware, adaptive recommendations</a:t>
            </a:r>
            <a:endParaRPr lang="en-US" sz="1550" dirty="0"/>
          </a:p>
        </p:txBody>
      </p:sp>
      <p:sp>
        <p:nvSpPr>
          <p:cNvPr id="20" name="Shape 12"/>
          <p:cNvSpPr/>
          <p:nvPr/>
        </p:nvSpPr>
        <p:spPr>
          <a:xfrm>
            <a:off x="5728716" y="3680460"/>
            <a:ext cx="731520" cy="731520"/>
          </a:xfrm>
          <a:prstGeom prst="ellipse">
            <a:avLst/>
          </a:prstGeom>
          <a:solidFill>
            <a:srgbClr val="0A0E27"/>
          </a:solidFill>
          <a:ln w="19050">
            <a:solidFill>
              <a:srgbClr val="3A3F72"/>
            </a:solidFill>
            <a:prstDash val="solid"/>
          </a:ln>
        </p:spPr>
      </p:sp>
      <p:sp>
        <p:nvSpPr>
          <p:cNvPr id="21" name="Text 13"/>
          <p:cNvSpPr/>
          <p:nvPr/>
        </p:nvSpPr>
        <p:spPr>
          <a:xfrm>
            <a:off x="5728716" y="3680460"/>
            <a:ext cx="731520" cy="7315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VS</a:t>
            </a:r>
            <a:endParaRPr lang="en-US" sz="1800" dirty="0"/>
          </a:p>
        </p:txBody>
      </p:sp>
      <p:sp>
        <p:nvSpPr>
          <p:cNvPr id="22" name="Text 14"/>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8 / 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300" kern="0" dirty="0">
                <a:solidFill>
                  <a:srgbClr val="60A5FA"/>
                </a:solidFill>
                <a:latin typeface="Calibri" pitchFamily="34" charset="0"/>
                <a:ea typeface="Calibri" pitchFamily="34" charset="-122"/>
                <a:cs typeface="Calibri" pitchFamily="34" charset="-120"/>
              </a:rPr>
              <a:t>IMPACT</a:t>
            </a:r>
            <a:endParaRPr lang="en-US" sz="1300" dirty="0"/>
          </a:p>
        </p:txBody>
      </p:sp>
      <p:sp>
        <p:nvSpPr>
          <p:cNvPr id="3" name="Text 1"/>
          <p:cNvSpPr/>
          <p:nvPr/>
        </p:nvSpPr>
        <p:spPr>
          <a:xfrm>
            <a:off x="822960" y="1005840"/>
            <a:ext cx="9601200" cy="5486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Where persistent memory changes the outcome.</a:t>
            </a:r>
            <a:endParaRPr lang="en-US" sz="2700" dirty="0"/>
          </a:p>
        </p:txBody>
      </p:sp>
      <p:sp>
        <p:nvSpPr>
          <p:cNvPr id="4" name="Shape 2"/>
          <p:cNvSpPr/>
          <p:nvPr/>
        </p:nvSpPr>
        <p:spPr>
          <a:xfrm>
            <a:off x="822960" y="2606040"/>
            <a:ext cx="2551176" cy="2286000"/>
          </a:xfrm>
          <a:prstGeom prst="roundRect">
            <a:avLst>
              <a:gd name="adj" fmla="val 560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5" name="Image 0" descr="assets/ic_university.png">    </p:cNvPr>
          <p:cNvPicPr>
            <a:picLocks noChangeAspect="1"/>
          </p:cNvPicPr>
          <p:nvPr/>
        </p:nvPicPr>
        <p:blipFill>
          <a:blip r:embed="rId2"/>
          <a:stretch>
            <a:fillRect/>
          </a:stretch>
        </p:blipFill>
        <p:spPr>
          <a:xfrm>
            <a:off x="1709928" y="2834640"/>
            <a:ext cx="777240" cy="777240"/>
          </a:xfrm>
          <a:prstGeom prst="rect">
            <a:avLst/>
          </a:prstGeom>
        </p:spPr>
      </p:pic>
      <p:sp>
        <p:nvSpPr>
          <p:cNvPr id="6" name="Text 3"/>
          <p:cNvSpPr/>
          <p:nvPr/>
        </p:nvSpPr>
        <p:spPr>
          <a:xfrm>
            <a:off x="960120" y="3703320"/>
            <a:ext cx="227685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Universities</a:t>
            </a:r>
            <a:endParaRPr lang="en-US" sz="1450" dirty="0"/>
          </a:p>
        </p:txBody>
      </p:sp>
      <p:sp>
        <p:nvSpPr>
          <p:cNvPr id="7" name="Text 4"/>
          <p:cNvSpPr/>
          <p:nvPr/>
        </p:nvSpPr>
        <p:spPr>
          <a:xfrm>
            <a:off x="987552" y="4114800"/>
            <a:ext cx="2221992" cy="731520"/>
          </a:xfrm>
          <a:prstGeom prst="rect">
            <a:avLst/>
          </a:prstGeom>
          <a:noFill/>
          <a:ln/>
        </p:spPr>
        <p:txBody>
          <a:bodyPr wrap="square" rtlCol="0" anchor="ctr"/>
          <a:lstStyle/>
          <a:p>
            <a:pPr algn="ctr" indent="0" marL="0">
              <a:buNone/>
            </a:pPr>
            <a:r>
              <a:rPr lang="en-US" sz="1050" dirty="0">
                <a:solidFill>
                  <a:srgbClr val="9CA6C9"/>
                </a:solidFill>
                <a:latin typeface="Calibri" pitchFamily="34" charset="0"/>
                <a:ea typeface="Calibri" pitchFamily="34" charset="-122"/>
                <a:cs typeface="Calibri" pitchFamily="34" charset="-120"/>
              </a:rPr>
              <a:t>Career services that scale 1:1 mentorship</a:t>
            </a:r>
            <a:endParaRPr lang="en-US" sz="1050" dirty="0"/>
          </a:p>
        </p:txBody>
      </p:sp>
      <p:sp>
        <p:nvSpPr>
          <p:cNvPr id="8" name="Shape 5"/>
          <p:cNvSpPr/>
          <p:nvPr/>
        </p:nvSpPr>
        <p:spPr>
          <a:xfrm>
            <a:off x="3593592" y="2606040"/>
            <a:ext cx="2551176" cy="2286000"/>
          </a:xfrm>
          <a:prstGeom prst="roundRect">
            <a:avLst>
              <a:gd name="adj" fmla="val 560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9" name="Image 1" descr="assets/ic_students2.png">    </p:cNvPr>
          <p:cNvPicPr>
            <a:picLocks noChangeAspect="1"/>
          </p:cNvPicPr>
          <p:nvPr/>
        </p:nvPicPr>
        <p:blipFill>
          <a:blip r:embed="rId3"/>
          <a:stretch>
            <a:fillRect/>
          </a:stretch>
        </p:blipFill>
        <p:spPr>
          <a:xfrm>
            <a:off x="4480560" y="2834640"/>
            <a:ext cx="777240" cy="777240"/>
          </a:xfrm>
          <a:prstGeom prst="rect">
            <a:avLst/>
          </a:prstGeom>
        </p:spPr>
      </p:pic>
      <p:sp>
        <p:nvSpPr>
          <p:cNvPr id="10" name="Text 6"/>
          <p:cNvSpPr/>
          <p:nvPr/>
        </p:nvSpPr>
        <p:spPr>
          <a:xfrm>
            <a:off x="3730752" y="3703320"/>
            <a:ext cx="227685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Students</a:t>
            </a:r>
            <a:endParaRPr lang="en-US" sz="1450" dirty="0"/>
          </a:p>
        </p:txBody>
      </p:sp>
      <p:sp>
        <p:nvSpPr>
          <p:cNvPr id="11" name="Text 7"/>
          <p:cNvSpPr/>
          <p:nvPr/>
        </p:nvSpPr>
        <p:spPr>
          <a:xfrm>
            <a:off x="3758184" y="4114800"/>
            <a:ext cx="2221992" cy="731520"/>
          </a:xfrm>
          <a:prstGeom prst="rect">
            <a:avLst/>
          </a:prstGeom>
          <a:noFill/>
          <a:ln/>
        </p:spPr>
        <p:txBody>
          <a:bodyPr wrap="square" rtlCol="0" anchor="ctr"/>
          <a:lstStyle/>
          <a:p>
            <a:pPr algn="ctr" indent="0" marL="0">
              <a:buNone/>
            </a:pPr>
            <a:r>
              <a:rPr lang="en-US" sz="1050" dirty="0">
                <a:solidFill>
                  <a:srgbClr val="9CA6C9"/>
                </a:solidFill>
                <a:latin typeface="Calibri" pitchFamily="34" charset="0"/>
                <a:ea typeface="Calibri" pitchFamily="34" charset="-122"/>
                <a:cs typeface="Calibri" pitchFamily="34" charset="-120"/>
              </a:rPr>
              <a:t>A mentor that actually knows their journey</a:t>
            </a:r>
            <a:endParaRPr lang="en-US" sz="1050" dirty="0"/>
          </a:p>
        </p:txBody>
      </p:sp>
      <p:sp>
        <p:nvSpPr>
          <p:cNvPr id="12" name="Shape 8"/>
          <p:cNvSpPr/>
          <p:nvPr/>
        </p:nvSpPr>
        <p:spPr>
          <a:xfrm>
            <a:off x="6364224" y="2606040"/>
            <a:ext cx="2551176" cy="2286000"/>
          </a:xfrm>
          <a:prstGeom prst="roundRect">
            <a:avLst>
              <a:gd name="adj" fmla="val 560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13" name="Image 2" descr="assets/ic_edtech.png">    </p:cNvPr>
          <p:cNvPicPr>
            <a:picLocks noChangeAspect="1"/>
          </p:cNvPicPr>
          <p:nvPr/>
        </p:nvPicPr>
        <p:blipFill>
          <a:blip r:embed="rId4"/>
          <a:stretch>
            <a:fillRect/>
          </a:stretch>
        </p:blipFill>
        <p:spPr>
          <a:xfrm>
            <a:off x="7251192" y="2834640"/>
            <a:ext cx="777240" cy="777240"/>
          </a:xfrm>
          <a:prstGeom prst="rect">
            <a:avLst/>
          </a:prstGeom>
        </p:spPr>
      </p:pic>
      <p:sp>
        <p:nvSpPr>
          <p:cNvPr id="14" name="Text 9"/>
          <p:cNvSpPr/>
          <p:nvPr/>
        </p:nvSpPr>
        <p:spPr>
          <a:xfrm>
            <a:off x="6501384" y="3703320"/>
            <a:ext cx="227685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EdTech</a:t>
            </a:r>
            <a:endParaRPr lang="en-US" sz="1450" dirty="0"/>
          </a:p>
        </p:txBody>
      </p:sp>
      <p:sp>
        <p:nvSpPr>
          <p:cNvPr id="15" name="Text 10"/>
          <p:cNvSpPr/>
          <p:nvPr/>
        </p:nvSpPr>
        <p:spPr>
          <a:xfrm>
            <a:off x="6528816" y="4114800"/>
            <a:ext cx="2221992" cy="731520"/>
          </a:xfrm>
          <a:prstGeom prst="rect">
            <a:avLst/>
          </a:prstGeom>
          <a:noFill/>
          <a:ln/>
        </p:spPr>
        <p:txBody>
          <a:bodyPr wrap="square" rtlCol="0" anchor="ctr"/>
          <a:lstStyle/>
          <a:p>
            <a:pPr algn="ctr" indent="0" marL="0">
              <a:buNone/>
            </a:pPr>
            <a:r>
              <a:rPr lang="en-US" sz="1050" dirty="0">
                <a:solidFill>
                  <a:srgbClr val="9CA6C9"/>
                </a:solidFill>
                <a:latin typeface="Calibri" pitchFamily="34" charset="0"/>
                <a:ea typeface="Calibri" pitchFamily="34" charset="-122"/>
                <a:cs typeface="Calibri" pitchFamily="34" charset="-120"/>
              </a:rPr>
              <a:t>Memory as a plug-in personalization layer</a:t>
            </a:r>
            <a:endParaRPr lang="en-US" sz="1050" dirty="0"/>
          </a:p>
        </p:txBody>
      </p:sp>
      <p:sp>
        <p:nvSpPr>
          <p:cNvPr id="16" name="Shape 11"/>
          <p:cNvSpPr/>
          <p:nvPr/>
        </p:nvSpPr>
        <p:spPr>
          <a:xfrm>
            <a:off x="9134856" y="2606040"/>
            <a:ext cx="2551176" cy="2286000"/>
          </a:xfrm>
          <a:prstGeom prst="roundRect">
            <a:avLst>
              <a:gd name="adj" fmla="val 5600"/>
            </a:avLst>
          </a:prstGeom>
          <a:solidFill>
            <a:srgbClr val="0E2547"/>
          </a:solidFill>
          <a:ln w="12700">
            <a:solidFill>
              <a:srgbClr val="2E5A9A"/>
            </a:solidFill>
            <a:prstDash val="solid"/>
          </a:ln>
          <a:effectLst>
            <a:outerShdw sx="100000" sy="100000" kx="0" ky="0" algn="bl" rotWithShape="0" blurRad="152400" dist="38100" dir="5400000">
              <a:srgbClr val="000000">
                <a:alpha val="35000"/>
              </a:srgbClr>
            </a:outerShdw>
          </a:effectLst>
        </p:spPr>
      </p:sp>
      <p:pic>
        <p:nvPicPr>
          <p:cNvPr id="17" name="Image 3" descr="assets/ic_platforms.png">    </p:cNvPr>
          <p:cNvPicPr>
            <a:picLocks noChangeAspect="1"/>
          </p:cNvPicPr>
          <p:nvPr/>
        </p:nvPicPr>
        <p:blipFill>
          <a:blip r:embed="rId5"/>
          <a:stretch>
            <a:fillRect/>
          </a:stretch>
        </p:blipFill>
        <p:spPr>
          <a:xfrm>
            <a:off x="10021824" y="2834640"/>
            <a:ext cx="777240" cy="777240"/>
          </a:xfrm>
          <a:prstGeom prst="rect">
            <a:avLst/>
          </a:prstGeom>
        </p:spPr>
      </p:pic>
      <p:sp>
        <p:nvSpPr>
          <p:cNvPr id="18" name="Text 12"/>
          <p:cNvSpPr/>
          <p:nvPr/>
        </p:nvSpPr>
        <p:spPr>
          <a:xfrm>
            <a:off x="9272016" y="3703320"/>
            <a:ext cx="2276856" cy="36576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Career Platforms</a:t>
            </a:r>
            <a:endParaRPr lang="en-US" sz="1450" dirty="0"/>
          </a:p>
        </p:txBody>
      </p:sp>
      <p:sp>
        <p:nvSpPr>
          <p:cNvPr id="19" name="Text 13"/>
          <p:cNvSpPr/>
          <p:nvPr/>
        </p:nvSpPr>
        <p:spPr>
          <a:xfrm>
            <a:off x="9299448" y="4114800"/>
            <a:ext cx="2221992" cy="731520"/>
          </a:xfrm>
          <a:prstGeom prst="rect">
            <a:avLst/>
          </a:prstGeom>
          <a:noFill/>
          <a:ln/>
        </p:spPr>
        <p:txBody>
          <a:bodyPr wrap="square" rtlCol="0" anchor="ctr"/>
          <a:lstStyle/>
          <a:p>
            <a:pPr algn="ctr" indent="0" marL="0">
              <a:buNone/>
            </a:pPr>
            <a:r>
              <a:rPr lang="en-US" sz="1050" dirty="0">
                <a:solidFill>
                  <a:srgbClr val="9CA6C9"/>
                </a:solidFill>
                <a:latin typeface="Calibri" pitchFamily="34" charset="0"/>
                <a:ea typeface="Calibri" pitchFamily="34" charset="-122"/>
                <a:cs typeface="Calibri" pitchFamily="34" charset="-120"/>
              </a:rPr>
              <a:t>Recommendations grounded in real history</a:t>
            </a:r>
            <a:endParaRPr lang="en-US" sz="1050" dirty="0"/>
          </a:p>
        </p:txBody>
      </p:sp>
      <p:sp>
        <p:nvSpPr>
          <p:cNvPr id="20" name="Shape 14"/>
          <p:cNvSpPr/>
          <p:nvPr/>
        </p:nvSpPr>
        <p:spPr>
          <a:xfrm>
            <a:off x="822960" y="5120640"/>
            <a:ext cx="10543032" cy="1051560"/>
          </a:xfrm>
          <a:prstGeom prst="roundRect">
            <a:avLst>
              <a:gd name="adj" fmla="val 12174"/>
            </a:avLst>
          </a:prstGeom>
          <a:solidFill>
            <a:srgbClr val="12173A"/>
          </a:solidFill>
          <a:ln w="12700">
            <a:solidFill>
              <a:srgbClr val="2E3564"/>
            </a:solidFill>
            <a:prstDash val="solid"/>
          </a:ln>
          <a:effectLst>
            <a:outerShdw sx="100000" sy="100000" kx="0" ky="0" algn="bl" rotWithShape="0" blurRad="152400" dist="38100" dir="5400000">
              <a:srgbClr val="000000">
                <a:alpha val="35000"/>
              </a:srgbClr>
            </a:outerShdw>
          </a:effectLst>
        </p:spPr>
      </p:sp>
      <p:sp>
        <p:nvSpPr>
          <p:cNvPr id="21" name="Text 15"/>
          <p:cNvSpPr/>
          <p:nvPr/>
        </p:nvSpPr>
        <p:spPr>
          <a:xfrm>
            <a:off x="1188720" y="5120640"/>
            <a:ext cx="2194560" cy="1051560"/>
          </a:xfrm>
          <a:prstGeom prst="rect">
            <a:avLst/>
          </a:prstGeom>
          <a:noFill/>
          <a:ln/>
        </p:spPr>
        <p:txBody>
          <a:bodyPr wrap="square" rtlCol="0" anchor="ctr"/>
          <a:lstStyle/>
          <a:p>
            <a:pPr indent="0" marL="0">
              <a:buNone/>
            </a:pPr>
            <a:r>
              <a:rPr lang="en-US" sz="3400" b="1" dirty="0">
                <a:solidFill>
                  <a:srgbClr val="A855F7"/>
                </a:solidFill>
                <a:latin typeface="Cambria" pitchFamily="34" charset="0"/>
                <a:ea typeface="Cambria" pitchFamily="34" charset="-122"/>
                <a:cs typeface="Cambria" pitchFamily="34" charset="-120"/>
              </a:rPr>
              <a:t>7-stage</a:t>
            </a:r>
            <a:endParaRPr lang="en-US" sz="3400" dirty="0"/>
          </a:p>
        </p:txBody>
      </p:sp>
      <p:sp>
        <p:nvSpPr>
          <p:cNvPr id="22" name="Text 16"/>
          <p:cNvSpPr/>
          <p:nvPr/>
        </p:nvSpPr>
        <p:spPr>
          <a:xfrm>
            <a:off x="3566160" y="5120640"/>
            <a:ext cx="7434072" cy="1051560"/>
          </a:xfrm>
          <a:prstGeom prst="rect">
            <a:avLst/>
          </a:prstGeom>
          <a:noFill/>
          <a:ln/>
        </p:spPr>
        <p:txBody>
          <a:bodyPr wrap="square" rtlCol="0" anchor="ctr"/>
          <a:lstStyle/>
          <a:p>
            <a:pPr indent="0" marL="0">
              <a:buNone/>
            </a:pPr>
            <a:r>
              <a:rPr lang="en-US" sz="1400" dirty="0">
                <a:solidFill>
                  <a:srgbClr val="C7CEE6"/>
                </a:solidFill>
                <a:latin typeface="Calibri" pitchFamily="34" charset="0"/>
                <a:ea typeface="Calibri" pitchFamily="34" charset="-122"/>
                <a:cs typeface="Calibri" pitchFamily="34" charset="-120"/>
              </a:rPr>
              <a:t>memory lifecycle running in production today — creation to decay — the foundation for every future vertical.</a:t>
            </a:r>
            <a:endParaRPr lang="en-US" sz="1400" dirty="0"/>
          </a:p>
        </p:txBody>
      </p:sp>
      <p:sp>
        <p:nvSpPr>
          <p:cNvPr id="23" name="Text 17"/>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9 / 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glow_purple.png">    </p:cNvPr>
          <p:cNvPicPr>
            <a:picLocks noChangeAspect="1"/>
          </p:cNvPicPr>
          <p:nvPr/>
        </p:nvPicPr>
        <p:blipFill>
          <a:blip r:embed="rId2">
            <a:alphaModFix amt="45000"/>
          </a:blip>
          <a:stretch>
            <a:fillRect/>
          </a:stretch>
        </p:blipFill>
        <p:spPr>
          <a:xfrm>
            <a:off x="-1463040" y="914400"/>
            <a:ext cx="5669280" cy="5669280"/>
          </a:xfrm>
          <a:prstGeom prst="rect">
            <a:avLst/>
          </a:prstGeom>
        </p:spPr>
      </p:pic>
      <p:pic>
        <p:nvPicPr>
          <p:cNvPr id="3" name="Image 1" descr="assets/glow_blue.png">    </p:cNvPr>
          <p:cNvPicPr>
            <a:picLocks noChangeAspect="1"/>
          </p:cNvPicPr>
          <p:nvPr/>
        </p:nvPicPr>
        <p:blipFill>
          <a:blip r:embed="rId3">
            <a:alphaModFix amt="35000"/>
          </a:blip>
          <a:stretch>
            <a:fillRect/>
          </a:stretch>
        </p:blipFill>
        <p:spPr>
          <a:xfrm>
            <a:off x="8686800" y="3291840"/>
            <a:ext cx="5303520" cy="5303520"/>
          </a:xfrm>
          <a:prstGeom prst="rect">
            <a:avLst/>
          </a:prstGeom>
        </p:spPr>
      </p:pic>
      <p:sp>
        <p:nvSpPr>
          <p:cNvPr id="4" name="Text 0"/>
          <p:cNvSpPr/>
          <p:nvPr/>
        </p:nvSpPr>
        <p:spPr>
          <a:xfrm>
            <a:off x="822960" y="457200"/>
            <a:ext cx="5486400" cy="320040"/>
          </a:xfrm>
          <a:prstGeom prst="rect">
            <a:avLst/>
          </a:prstGeom>
          <a:noFill/>
          <a:ln/>
        </p:spPr>
        <p:txBody>
          <a:bodyPr wrap="square" rtlCol="0" anchor="ctr"/>
          <a:lstStyle/>
          <a:p>
            <a:pPr indent="0" marL="0">
              <a:buNone/>
            </a:pPr>
            <a:r>
              <a:rPr lang="en-US" sz="1300" b="1" spc="300" kern="0" dirty="0">
                <a:solidFill>
                  <a:srgbClr val="A855F7"/>
                </a:solidFill>
                <a:latin typeface="Calibri" pitchFamily="34" charset="0"/>
                <a:ea typeface="Calibri" pitchFamily="34" charset="-122"/>
                <a:cs typeface="Calibri" pitchFamily="34" charset="-120"/>
              </a:rPr>
              <a:t>THE TEAM</a:t>
            </a:r>
            <a:endParaRPr lang="en-US" sz="1300" dirty="0"/>
          </a:p>
        </p:txBody>
      </p:sp>
      <p:sp>
        <p:nvSpPr>
          <p:cNvPr id="5" name="Text 1"/>
          <p:cNvSpPr/>
          <p:nvPr/>
        </p:nvSpPr>
        <p:spPr>
          <a:xfrm>
            <a:off x="795528" y="713232"/>
            <a:ext cx="8229600" cy="86868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Built by two.</a:t>
            </a:r>
            <a:endParaRPr lang="en-US" sz="5000" dirty="0"/>
          </a:p>
        </p:txBody>
      </p:sp>
      <p:sp>
        <p:nvSpPr>
          <p:cNvPr id="6" name="Text 2"/>
          <p:cNvSpPr/>
          <p:nvPr/>
        </p:nvSpPr>
        <p:spPr>
          <a:xfrm>
            <a:off x="822960" y="1481328"/>
            <a:ext cx="9144000" cy="320040"/>
          </a:xfrm>
          <a:prstGeom prst="rect">
            <a:avLst/>
          </a:prstGeom>
          <a:noFill/>
          <a:ln/>
        </p:spPr>
        <p:txBody>
          <a:bodyPr wrap="square" rtlCol="0" anchor="ctr"/>
          <a:lstStyle/>
          <a:p>
            <a:pPr indent="0" marL="0">
              <a:buNone/>
            </a:pPr>
            <a:r>
              <a:rPr lang="en-US" sz="1250" spc="50" kern="0" dirty="0">
                <a:solidFill>
                  <a:srgbClr val="9CA6C9"/>
                </a:solidFill>
                <a:latin typeface="Calibri" pitchFamily="34" charset="0"/>
                <a:ea typeface="Calibri" pitchFamily="34" charset="-122"/>
                <a:cs typeface="Calibri" pitchFamily="34" charset="-120"/>
              </a:rPr>
              <a:t>MentorOS   ·   Qwen Global AI Hackathon   ·   Track 1 — MemoryAgent</a:t>
            </a:r>
            <a:endParaRPr lang="en-US" sz="1250" dirty="0"/>
          </a:p>
        </p:txBody>
      </p:sp>
      <p:sp>
        <p:nvSpPr>
          <p:cNvPr id="7" name="Shape 3"/>
          <p:cNvSpPr/>
          <p:nvPr/>
        </p:nvSpPr>
        <p:spPr>
          <a:xfrm>
            <a:off x="822960" y="1965960"/>
            <a:ext cx="10543032" cy="3063240"/>
          </a:xfrm>
          <a:prstGeom prst="roundRect">
            <a:avLst>
              <a:gd name="adj" fmla="val 5373"/>
            </a:avLst>
          </a:prstGeom>
          <a:solidFill>
            <a:srgbClr val="12103A"/>
          </a:solidFill>
          <a:ln w="12700">
            <a:solidFill>
              <a:srgbClr val="2A2560"/>
            </a:solidFill>
            <a:prstDash val="solid"/>
          </a:ln>
          <a:effectLst>
            <a:outerShdw sx="100000" sy="100000" kx="0" ky="0" algn="bl" rotWithShape="0" blurRad="355600" dist="177800" dir="5400000">
              <a:srgbClr val="000000">
                <a:alpha val="45000"/>
              </a:srgbClr>
            </a:outerShdw>
          </a:effectLst>
        </p:spPr>
      </p:sp>
      <p:pic>
        <p:nvPicPr>
          <p:cNvPr id="8" name="Image 2" descr="assets/ring_lead.png">    </p:cNvPr>
          <p:cNvPicPr>
            <a:picLocks noChangeAspect="1"/>
          </p:cNvPicPr>
          <p:nvPr/>
        </p:nvPicPr>
        <p:blipFill>
          <a:blip r:embed="rId4"/>
          <a:stretch>
            <a:fillRect/>
          </a:stretch>
        </p:blipFill>
        <p:spPr>
          <a:xfrm>
            <a:off x="1280160" y="2423160"/>
            <a:ext cx="1554480" cy="1554480"/>
          </a:xfrm>
          <a:prstGeom prst="rect">
            <a:avLst/>
          </a:prstGeom>
        </p:spPr>
      </p:pic>
      <p:sp>
        <p:nvSpPr>
          <p:cNvPr id="9" name="Shape 4"/>
          <p:cNvSpPr/>
          <p:nvPr/>
        </p:nvSpPr>
        <p:spPr>
          <a:xfrm>
            <a:off x="1357884" y="2500884"/>
            <a:ext cx="1399032" cy="1399032"/>
          </a:xfrm>
          <a:prstGeom prst="ellipse">
            <a:avLst/>
          </a:prstGeom>
          <a:solidFill>
            <a:srgbClr val="1B2354"/>
          </a:solidFill>
          <a:ln/>
        </p:spPr>
      </p:sp>
      <p:sp>
        <p:nvSpPr>
          <p:cNvPr id="10" name="Text 5"/>
          <p:cNvSpPr/>
          <p:nvPr/>
        </p:nvSpPr>
        <p:spPr>
          <a:xfrm>
            <a:off x="1357884" y="2500884"/>
            <a:ext cx="1399032" cy="1399032"/>
          </a:xfrm>
          <a:prstGeom prst="rect">
            <a:avLst/>
          </a:prstGeom>
          <a:noFill/>
          <a:ln/>
        </p:spPr>
        <p:txBody>
          <a:bodyPr wrap="square" rtlCol="0" anchor="ctr"/>
          <a:lstStyle/>
          <a:p>
            <a:pPr algn="ctr" indent="0" marL="0">
              <a:buNone/>
            </a:pPr>
            <a:r>
              <a:rPr lang="en-US" sz="3400" b="1" dirty="0">
                <a:solidFill>
                  <a:srgbClr val="60A5FA"/>
                </a:solidFill>
                <a:latin typeface="Cambria" pitchFamily="34" charset="0"/>
                <a:ea typeface="Cambria" pitchFamily="34" charset="-122"/>
                <a:cs typeface="Cambria" pitchFamily="34" charset="-120"/>
              </a:rPr>
              <a:t>BH</a:t>
            </a:r>
            <a:endParaRPr lang="en-US" sz="3400" dirty="0"/>
          </a:p>
        </p:txBody>
      </p:sp>
      <p:sp>
        <p:nvSpPr>
          <p:cNvPr id="11" name="Text 6"/>
          <p:cNvSpPr/>
          <p:nvPr/>
        </p:nvSpPr>
        <p:spPr>
          <a:xfrm>
            <a:off x="3246120" y="2468880"/>
            <a:ext cx="6016752" cy="50292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Muhammad Bilal Hussain</a:t>
            </a:r>
            <a:endParaRPr lang="en-US" sz="2700" dirty="0"/>
          </a:p>
        </p:txBody>
      </p:sp>
      <p:sp>
        <p:nvSpPr>
          <p:cNvPr id="12" name="Text 7"/>
          <p:cNvSpPr/>
          <p:nvPr/>
        </p:nvSpPr>
        <p:spPr>
          <a:xfrm>
            <a:off x="3246120" y="3044952"/>
            <a:ext cx="6016752" cy="320040"/>
          </a:xfrm>
          <a:prstGeom prst="rect">
            <a:avLst/>
          </a:prstGeom>
          <a:noFill/>
          <a:ln/>
        </p:spPr>
        <p:txBody>
          <a:bodyPr wrap="square" rtlCol="0" anchor="ctr"/>
          <a:lstStyle/>
          <a:p>
            <a:pPr indent="0" marL="0">
              <a:buNone/>
            </a:pPr>
            <a:r>
              <a:rPr lang="en-US" sz="1000" b="1" spc="60" kern="0" dirty="0">
                <a:solidFill>
                  <a:srgbClr val="60A5FA"/>
                </a:solidFill>
                <a:latin typeface="Calibri" pitchFamily="34" charset="0"/>
                <a:ea typeface="Calibri" pitchFamily="34" charset="-122"/>
                <a:cs typeface="Calibri" pitchFamily="34" charset="-120"/>
              </a:rPr>
              <a:t>BACKEND  ·  AI ENGINEER  ·  MEMORY ENGINE  ·  SYSTEM ARCHITECTURE</a:t>
            </a:r>
            <a:endParaRPr lang="en-US" sz="1000" dirty="0"/>
          </a:p>
        </p:txBody>
      </p:sp>
      <p:sp>
        <p:nvSpPr>
          <p:cNvPr id="13" name="Shape 8"/>
          <p:cNvSpPr/>
          <p:nvPr/>
        </p:nvSpPr>
        <p:spPr>
          <a:xfrm>
            <a:off x="9354312" y="2423160"/>
            <a:ext cx="1554480" cy="384048"/>
          </a:xfrm>
          <a:prstGeom prst="roundRect">
            <a:avLst>
              <a:gd name="adj" fmla="val 50000"/>
            </a:avLst>
          </a:prstGeom>
          <a:solidFill>
            <a:srgbClr val="7C3AED"/>
          </a:solidFill>
          <a:ln/>
          <a:effectLst>
            <a:outerShdw sx="100000" sy="100000" kx="0" ky="0" algn="bl" rotWithShape="0" blurRad="127000" dist="50800" dir="16200000">
              <a:srgbClr val="7C3AED">
                <a:alpha val="40000"/>
              </a:srgbClr>
            </a:outerShdw>
          </a:effectLst>
        </p:spPr>
      </p:sp>
      <p:sp>
        <p:nvSpPr>
          <p:cNvPr id="14" name="Text 9"/>
          <p:cNvSpPr/>
          <p:nvPr/>
        </p:nvSpPr>
        <p:spPr>
          <a:xfrm>
            <a:off x="9354312" y="2423160"/>
            <a:ext cx="1554480" cy="384048"/>
          </a:xfrm>
          <a:prstGeom prst="rect">
            <a:avLst/>
          </a:prstGeom>
          <a:noFill/>
          <a:ln/>
        </p:spPr>
        <p:txBody>
          <a:bodyPr wrap="square" rtlCol="0" anchor="ctr"/>
          <a:lstStyle/>
          <a:p>
            <a:pPr algn="ctr" indent="0" marL="0">
              <a:buNone/>
            </a:pPr>
            <a:r>
              <a:rPr lang="en-US" sz="1150" b="1" spc="180" kern="0" dirty="0">
                <a:solidFill>
                  <a:srgbClr val="FFFFFF"/>
                </a:solidFill>
                <a:latin typeface="Calibri" pitchFamily="34" charset="0"/>
                <a:ea typeface="Calibri" pitchFamily="34" charset="-122"/>
                <a:cs typeface="Calibri" pitchFamily="34" charset="-120"/>
              </a:rPr>
              <a:t>TEAM LEAD</a:t>
            </a:r>
            <a:endParaRPr lang="en-US" sz="1150" dirty="0"/>
          </a:p>
        </p:txBody>
      </p:sp>
      <p:sp>
        <p:nvSpPr>
          <p:cNvPr id="15" name="Shape 10"/>
          <p:cNvSpPr/>
          <p:nvPr/>
        </p:nvSpPr>
        <p:spPr>
          <a:xfrm>
            <a:off x="1280160" y="3657600"/>
            <a:ext cx="1874520" cy="420624"/>
          </a:xfrm>
          <a:prstGeom prst="roundRect">
            <a:avLst>
              <a:gd name="adj" fmla="val 50000"/>
            </a:avLst>
          </a:prstGeom>
          <a:solidFill>
            <a:srgbClr val="1B1A48"/>
          </a:solidFill>
          <a:ln w="9525">
            <a:solidFill>
              <a:srgbClr val="38327A"/>
            </a:solidFill>
            <a:prstDash val="solid"/>
          </a:ln>
        </p:spPr>
      </p:sp>
      <p:pic>
        <p:nvPicPr>
          <p:cNvPr id="16" name="Image 3" descr="assets/ic2_backend.png">    </p:cNvPr>
          <p:cNvPicPr>
            <a:picLocks noChangeAspect="1"/>
          </p:cNvPicPr>
          <p:nvPr/>
        </p:nvPicPr>
        <p:blipFill>
          <a:blip r:embed="rId5"/>
          <a:stretch>
            <a:fillRect/>
          </a:stretch>
        </p:blipFill>
        <p:spPr>
          <a:xfrm>
            <a:off x="1381110" y="3779581"/>
            <a:ext cx="176662" cy="176662"/>
          </a:xfrm>
          <a:prstGeom prst="rect">
            <a:avLst/>
          </a:prstGeom>
        </p:spPr>
      </p:pic>
      <p:sp>
        <p:nvSpPr>
          <p:cNvPr id="17" name="Text 11"/>
          <p:cNvSpPr/>
          <p:nvPr/>
        </p:nvSpPr>
        <p:spPr>
          <a:xfrm>
            <a:off x="1640068" y="3657600"/>
            <a:ext cx="136830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FastAPI Backend</a:t>
            </a:r>
            <a:endParaRPr lang="en-US" sz="1200" dirty="0"/>
          </a:p>
        </p:txBody>
      </p:sp>
      <p:sp>
        <p:nvSpPr>
          <p:cNvPr id="18" name="Shape 12"/>
          <p:cNvSpPr/>
          <p:nvPr/>
        </p:nvSpPr>
        <p:spPr>
          <a:xfrm>
            <a:off x="3337560" y="3657600"/>
            <a:ext cx="2423160" cy="420624"/>
          </a:xfrm>
          <a:prstGeom prst="roundRect">
            <a:avLst>
              <a:gd name="adj" fmla="val 50000"/>
            </a:avLst>
          </a:prstGeom>
          <a:solidFill>
            <a:srgbClr val="1B1A48"/>
          </a:solidFill>
          <a:ln w="9525">
            <a:solidFill>
              <a:srgbClr val="38327A"/>
            </a:solidFill>
            <a:prstDash val="solid"/>
          </a:ln>
        </p:spPr>
      </p:sp>
      <p:pic>
        <p:nvPicPr>
          <p:cNvPr id="19" name="Image 4" descr="assets/ic2_ai.png">    </p:cNvPr>
          <p:cNvPicPr>
            <a:picLocks noChangeAspect="1"/>
          </p:cNvPicPr>
          <p:nvPr/>
        </p:nvPicPr>
        <p:blipFill>
          <a:blip r:embed="rId6"/>
          <a:stretch>
            <a:fillRect/>
          </a:stretch>
        </p:blipFill>
        <p:spPr>
          <a:xfrm>
            <a:off x="3438510" y="3779581"/>
            <a:ext cx="176662" cy="176662"/>
          </a:xfrm>
          <a:prstGeom prst="rect">
            <a:avLst/>
          </a:prstGeom>
        </p:spPr>
      </p:pic>
      <p:sp>
        <p:nvSpPr>
          <p:cNvPr id="20" name="Text 13"/>
          <p:cNvSpPr/>
          <p:nvPr/>
        </p:nvSpPr>
        <p:spPr>
          <a:xfrm>
            <a:off x="3697468" y="3657600"/>
            <a:ext cx="191694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Qwen Cloud Integration</a:t>
            </a:r>
            <a:endParaRPr lang="en-US" sz="1200" dirty="0"/>
          </a:p>
        </p:txBody>
      </p:sp>
      <p:sp>
        <p:nvSpPr>
          <p:cNvPr id="21" name="Shape 14"/>
          <p:cNvSpPr/>
          <p:nvPr/>
        </p:nvSpPr>
        <p:spPr>
          <a:xfrm>
            <a:off x="5943600" y="3657600"/>
            <a:ext cx="1325880" cy="420624"/>
          </a:xfrm>
          <a:prstGeom prst="roundRect">
            <a:avLst>
              <a:gd name="adj" fmla="val 50000"/>
            </a:avLst>
          </a:prstGeom>
          <a:solidFill>
            <a:srgbClr val="1B1A48"/>
          </a:solidFill>
          <a:ln w="9525">
            <a:solidFill>
              <a:srgbClr val="38327A"/>
            </a:solidFill>
            <a:prstDash val="solid"/>
          </a:ln>
        </p:spPr>
      </p:sp>
      <p:pic>
        <p:nvPicPr>
          <p:cNvPr id="22" name="Image 5" descr="assets/ic2_db.png">    </p:cNvPr>
          <p:cNvPicPr>
            <a:picLocks noChangeAspect="1"/>
          </p:cNvPicPr>
          <p:nvPr/>
        </p:nvPicPr>
        <p:blipFill>
          <a:blip r:embed="rId7"/>
          <a:stretch>
            <a:fillRect/>
          </a:stretch>
        </p:blipFill>
        <p:spPr>
          <a:xfrm>
            <a:off x="6044550" y="3779581"/>
            <a:ext cx="176662" cy="176662"/>
          </a:xfrm>
          <a:prstGeom prst="rect">
            <a:avLst/>
          </a:prstGeom>
        </p:spPr>
      </p:pic>
      <p:sp>
        <p:nvSpPr>
          <p:cNvPr id="23" name="Text 15"/>
          <p:cNvSpPr/>
          <p:nvPr/>
        </p:nvSpPr>
        <p:spPr>
          <a:xfrm>
            <a:off x="6303508" y="3657600"/>
            <a:ext cx="81966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ChromaDB</a:t>
            </a:r>
            <a:endParaRPr lang="en-US" sz="1200" dirty="0"/>
          </a:p>
        </p:txBody>
      </p:sp>
      <p:sp>
        <p:nvSpPr>
          <p:cNvPr id="24" name="Shape 16"/>
          <p:cNvSpPr/>
          <p:nvPr/>
        </p:nvSpPr>
        <p:spPr>
          <a:xfrm>
            <a:off x="7452360" y="3657600"/>
            <a:ext cx="1783080" cy="420624"/>
          </a:xfrm>
          <a:prstGeom prst="roundRect">
            <a:avLst>
              <a:gd name="adj" fmla="val 50000"/>
            </a:avLst>
          </a:prstGeom>
          <a:solidFill>
            <a:srgbClr val="1B1A48"/>
          </a:solidFill>
          <a:ln w="9525">
            <a:solidFill>
              <a:srgbClr val="38327A"/>
            </a:solidFill>
            <a:prstDash val="solid"/>
          </a:ln>
        </p:spPr>
      </p:sp>
      <p:pic>
        <p:nvPicPr>
          <p:cNvPr id="25" name="Image 6" descr="assets/ic2_auth.png">    </p:cNvPr>
          <p:cNvPicPr>
            <a:picLocks noChangeAspect="1"/>
          </p:cNvPicPr>
          <p:nvPr/>
        </p:nvPicPr>
        <p:blipFill>
          <a:blip r:embed="rId8"/>
          <a:stretch>
            <a:fillRect/>
          </a:stretch>
        </p:blipFill>
        <p:spPr>
          <a:xfrm>
            <a:off x="7553310" y="3779581"/>
            <a:ext cx="176662" cy="176662"/>
          </a:xfrm>
          <a:prstGeom prst="rect">
            <a:avLst/>
          </a:prstGeom>
        </p:spPr>
      </p:pic>
      <p:sp>
        <p:nvSpPr>
          <p:cNvPr id="26" name="Text 17"/>
          <p:cNvSpPr/>
          <p:nvPr/>
        </p:nvSpPr>
        <p:spPr>
          <a:xfrm>
            <a:off x="7812268" y="3657600"/>
            <a:ext cx="127686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Authentication</a:t>
            </a:r>
            <a:endParaRPr lang="en-US" sz="1200" dirty="0"/>
          </a:p>
        </p:txBody>
      </p:sp>
      <p:sp>
        <p:nvSpPr>
          <p:cNvPr id="27" name="Shape 18"/>
          <p:cNvSpPr/>
          <p:nvPr/>
        </p:nvSpPr>
        <p:spPr>
          <a:xfrm>
            <a:off x="1280160" y="4242816"/>
            <a:ext cx="1691640" cy="420624"/>
          </a:xfrm>
          <a:prstGeom prst="roundRect">
            <a:avLst>
              <a:gd name="adj" fmla="val 50000"/>
            </a:avLst>
          </a:prstGeom>
          <a:solidFill>
            <a:srgbClr val="1B1A48"/>
          </a:solidFill>
          <a:ln w="9525">
            <a:solidFill>
              <a:srgbClr val="38327A"/>
            </a:solidFill>
            <a:prstDash val="solid"/>
          </a:ln>
        </p:spPr>
      </p:sp>
      <p:pic>
        <p:nvPicPr>
          <p:cNvPr id="28" name="Image 7" descr="assets/ic2_memory.png">    </p:cNvPr>
          <p:cNvPicPr>
            <a:picLocks noChangeAspect="1"/>
          </p:cNvPicPr>
          <p:nvPr/>
        </p:nvPicPr>
        <p:blipFill>
          <a:blip r:embed="rId9"/>
          <a:stretch>
            <a:fillRect/>
          </a:stretch>
        </p:blipFill>
        <p:spPr>
          <a:xfrm>
            <a:off x="1381110" y="4364797"/>
            <a:ext cx="176662" cy="176662"/>
          </a:xfrm>
          <a:prstGeom prst="rect">
            <a:avLst/>
          </a:prstGeom>
        </p:spPr>
      </p:pic>
      <p:sp>
        <p:nvSpPr>
          <p:cNvPr id="29" name="Text 19"/>
          <p:cNvSpPr/>
          <p:nvPr/>
        </p:nvSpPr>
        <p:spPr>
          <a:xfrm>
            <a:off x="1640068" y="4242816"/>
            <a:ext cx="118542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Memory Engine</a:t>
            </a:r>
            <a:endParaRPr lang="en-US" sz="1200" dirty="0"/>
          </a:p>
        </p:txBody>
      </p:sp>
      <p:sp>
        <p:nvSpPr>
          <p:cNvPr id="30" name="Shape 20"/>
          <p:cNvSpPr/>
          <p:nvPr/>
        </p:nvSpPr>
        <p:spPr>
          <a:xfrm>
            <a:off x="3154680" y="4242816"/>
            <a:ext cx="2697480" cy="420624"/>
          </a:xfrm>
          <a:prstGeom prst="roundRect">
            <a:avLst>
              <a:gd name="adj" fmla="val 50000"/>
            </a:avLst>
          </a:prstGeom>
          <a:solidFill>
            <a:srgbClr val="1B1A48"/>
          </a:solidFill>
          <a:ln w="9525">
            <a:solidFill>
              <a:srgbClr val="38327A"/>
            </a:solidFill>
            <a:prstDash val="solid"/>
          </a:ln>
        </p:spPr>
      </p:sp>
      <p:pic>
        <p:nvPicPr>
          <p:cNvPr id="31" name="Image 8" descr="assets/ic2_recommend.png">    </p:cNvPr>
          <p:cNvPicPr>
            <a:picLocks noChangeAspect="1"/>
          </p:cNvPicPr>
          <p:nvPr/>
        </p:nvPicPr>
        <p:blipFill>
          <a:blip r:embed="rId10"/>
          <a:stretch>
            <a:fillRect/>
          </a:stretch>
        </p:blipFill>
        <p:spPr>
          <a:xfrm>
            <a:off x="3255630" y="4364797"/>
            <a:ext cx="176662" cy="176662"/>
          </a:xfrm>
          <a:prstGeom prst="rect">
            <a:avLst/>
          </a:prstGeom>
        </p:spPr>
      </p:pic>
      <p:sp>
        <p:nvSpPr>
          <p:cNvPr id="32" name="Text 21"/>
          <p:cNvSpPr/>
          <p:nvPr/>
        </p:nvSpPr>
        <p:spPr>
          <a:xfrm>
            <a:off x="3514588" y="4242816"/>
            <a:ext cx="219126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AI Recommendation System</a:t>
            </a:r>
            <a:endParaRPr lang="en-US" sz="1200" dirty="0"/>
          </a:p>
        </p:txBody>
      </p:sp>
      <p:sp>
        <p:nvSpPr>
          <p:cNvPr id="33" name="Shape 22"/>
          <p:cNvSpPr/>
          <p:nvPr/>
        </p:nvSpPr>
        <p:spPr>
          <a:xfrm>
            <a:off x="6035040" y="4242816"/>
            <a:ext cx="1508760" cy="420624"/>
          </a:xfrm>
          <a:prstGeom prst="roundRect">
            <a:avLst>
              <a:gd name="adj" fmla="val 50000"/>
            </a:avLst>
          </a:prstGeom>
          <a:solidFill>
            <a:srgbClr val="1B1A48"/>
          </a:solidFill>
          <a:ln w="9525">
            <a:solidFill>
              <a:srgbClr val="38327A"/>
            </a:solidFill>
            <a:prstDash val="solid"/>
          </a:ln>
        </p:spPr>
      </p:sp>
      <p:pic>
        <p:nvPicPr>
          <p:cNvPr id="34" name="Image 9" descr="assets/ic2_deploy.png">    </p:cNvPr>
          <p:cNvPicPr>
            <a:picLocks noChangeAspect="1"/>
          </p:cNvPicPr>
          <p:nvPr/>
        </p:nvPicPr>
        <p:blipFill>
          <a:blip r:embed="rId11"/>
          <a:stretch>
            <a:fillRect/>
          </a:stretch>
        </p:blipFill>
        <p:spPr>
          <a:xfrm>
            <a:off x="6135990" y="4364797"/>
            <a:ext cx="176662" cy="176662"/>
          </a:xfrm>
          <a:prstGeom prst="rect">
            <a:avLst/>
          </a:prstGeom>
        </p:spPr>
      </p:pic>
      <p:sp>
        <p:nvSpPr>
          <p:cNvPr id="35" name="Text 23"/>
          <p:cNvSpPr/>
          <p:nvPr/>
        </p:nvSpPr>
        <p:spPr>
          <a:xfrm>
            <a:off x="6394948" y="4242816"/>
            <a:ext cx="1002548" cy="420624"/>
          </a:xfrm>
          <a:prstGeom prst="rect">
            <a:avLst/>
          </a:prstGeom>
          <a:noFill/>
          <a:ln/>
        </p:spPr>
        <p:txBody>
          <a:bodyPr wrap="square" lIns="0" tIns="0" rIns="0" bIns="0" rtlCol="0" anchor="ctr"/>
          <a:lstStyle/>
          <a:p>
            <a:pPr indent="0" marL="0">
              <a:buNone/>
            </a:pPr>
            <a:r>
              <a:rPr lang="en-US" sz="1200" dirty="0">
                <a:solidFill>
                  <a:srgbClr val="C7CEE6"/>
                </a:solidFill>
                <a:latin typeface="Calibri" pitchFamily="34" charset="0"/>
                <a:ea typeface="Calibri" pitchFamily="34" charset="-122"/>
                <a:cs typeface="Calibri" pitchFamily="34" charset="-120"/>
              </a:rPr>
              <a:t>Deployment</a:t>
            </a:r>
            <a:endParaRPr lang="en-US" sz="1200" dirty="0"/>
          </a:p>
        </p:txBody>
      </p:sp>
      <p:sp>
        <p:nvSpPr>
          <p:cNvPr id="36" name="Shape 24"/>
          <p:cNvSpPr/>
          <p:nvPr/>
        </p:nvSpPr>
        <p:spPr>
          <a:xfrm>
            <a:off x="822960" y="5257800"/>
            <a:ext cx="10543032" cy="1188720"/>
          </a:xfrm>
          <a:prstGeom prst="roundRect">
            <a:avLst>
              <a:gd name="adj" fmla="val 12308"/>
            </a:avLst>
          </a:prstGeom>
          <a:solidFill>
            <a:srgbClr val="0F0E30"/>
          </a:solidFill>
          <a:ln w="12700">
            <a:solidFill>
              <a:srgbClr val="211D4A"/>
            </a:solidFill>
            <a:prstDash val="solid"/>
          </a:ln>
          <a:effectLst>
            <a:outerShdw sx="100000" sy="100000" kx="0" ky="0" algn="bl" rotWithShape="0" blurRad="203200" dist="101600" dir="5400000">
              <a:srgbClr val="000000">
                <a:alpha val="30000"/>
              </a:srgbClr>
            </a:outerShdw>
          </a:effectLst>
        </p:spPr>
      </p:sp>
      <p:pic>
        <p:nvPicPr>
          <p:cNvPr id="37" name="Image 10" descr="assets/ring_second.png">    </p:cNvPr>
          <p:cNvPicPr>
            <a:picLocks noChangeAspect="1"/>
          </p:cNvPicPr>
          <p:nvPr/>
        </p:nvPicPr>
        <p:blipFill>
          <a:blip r:embed="rId12"/>
          <a:stretch>
            <a:fillRect/>
          </a:stretch>
        </p:blipFill>
        <p:spPr>
          <a:xfrm>
            <a:off x="1280160" y="5394960"/>
            <a:ext cx="914400" cy="914400"/>
          </a:xfrm>
          <a:prstGeom prst="rect">
            <a:avLst/>
          </a:prstGeom>
        </p:spPr>
      </p:pic>
      <p:sp>
        <p:nvSpPr>
          <p:cNvPr id="38" name="Shape 25"/>
          <p:cNvSpPr/>
          <p:nvPr/>
        </p:nvSpPr>
        <p:spPr>
          <a:xfrm>
            <a:off x="1325880" y="5440680"/>
            <a:ext cx="822960" cy="822960"/>
          </a:xfrm>
          <a:prstGeom prst="ellipse">
            <a:avLst/>
          </a:prstGeom>
          <a:solidFill>
            <a:srgbClr val="201A44"/>
          </a:solidFill>
          <a:ln/>
        </p:spPr>
      </p:sp>
      <p:sp>
        <p:nvSpPr>
          <p:cNvPr id="39" name="Text 26"/>
          <p:cNvSpPr/>
          <p:nvPr/>
        </p:nvSpPr>
        <p:spPr>
          <a:xfrm>
            <a:off x="1325880" y="5440680"/>
            <a:ext cx="822960" cy="822960"/>
          </a:xfrm>
          <a:prstGeom prst="rect">
            <a:avLst/>
          </a:prstGeom>
          <a:noFill/>
          <a:ln/>
        </p:spPr>
        <p:txBody>
          <a:bodyPr wrap="square" rtlCol="0" anchor="ctr"/>
          <a:lstStyle/>
          <a:p>
            <a:pPr algn="ctr" indent="0" marL="0">
              <a:buNone/>
            </a:pPr>
            <a:r>
              <a:rPr lang="en-US" sz="1900" b="1" dirty="0">
                <a:solidFill>
                  <a:srgbClr val="A855F7"/>
                </a:solidFill>
                <a:latin typeface="Cambria" pitchFamily="34" charset="0"/>
                <a:ea typeface="Cambria" pitchFamily="34" charset="-122"/>
                <a:cs typeface="Cambria" pitchFamily="34" charset="-120"/>
              </a:rPr>
              <a:t>NF</a:t>
            </a:r>
            <a:endParaRPr lang="en-US" sz="1900" dirty="0"/>
          </a:p>
        </p:txBody>
      </p:sp>
      <p:sp>
        <p:nvSpPr>
          <p:cNvPr id="40" name="Text 27"/>
          <p:cNvSpPr/>
          <p:nvPr/>
        </p:nvSpPr>
        <p:spPr>
          <a:xfrm>
            <a:off x="2560320" y="5440680"/>
            <a:ext cx="8439912"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Noor Fatima</a:t>
            </a:r>
            <a:endParaRPr lang="en-US" sz="1700" dirty="0"/>
          </a:p>
        </p:txBody>
      </p:sp>
      <p:sp>
        <p:nvSpPr>
          <p:cNvPr id="41" name="Text 28"/>
          <p:cNvSpPr/>
          <p:nvPr/>
        </p:nvSpPr>
        <p:spPr>
          <a:xfrm>
            <a:off x="2560320" y="5806440"/>
            <a:ext cx="8439912" cy="274320"/>
          </a:xfrm>
          <a:prstGeom prst="rect">
            <a:avLst/>
          </a:prstGeom>
          <a:noFill/>
          <a:ln/>
        </p:spPr>
        <p:txBody>
          <a:bodyPr wrap="square" rtlCol="0" anchor="ctr"/>
          <a:lstStyle/>
          <a:p>
            <a:pPr indent="0" marL="0">
              <a:buNone/>
            </a:pPr>
            <a:r>
              <a:rPr lang="en-US" sz="950" b="1" spc="100" kern="0" dirty="0">
                <a:solidFill>
                  <a:srgbClr val="6E77A8"/>
                </a:solidFill>
                <a:latin typeface="Calibri" pitchFamily="34" charset="0"/>
                <a:ea typeface="Calibri" pitchFamily="34" charset="-122"/>
                <a:cs typeface="Calibri" pitchFamily="34" charset="-120"/>
              </a:rPr>
              <a:t>PRESENTATION  ·  UI/UX  ·  DOCUMENTATION  ·  TESTING</a:t>
            </a:r>
            <a:endParaRPr lang="en-US" sz="950" dirty="0"/>
          </a:p>
        </p:txBody>
      </p:sp>
      <p:sp>
        <p:nvSpPr>
          <p:cNvPr id="42" name="Text 29"/>
          <p:cNvSpPr/>
          <p:nvPr/>
        </p:nvSpPr>
        <p:spPr>
          <a:xfrm>
            <a:off x="2560320" y="6099048"/>
            <a:ext cx="8439912" cy="274320"/>
          </a:xfrm>
          <a:prstGeom prst="rect">
            <a:avLst/>
          </a:prstGeom>
          <a:noFill/>
          <a:ln/>
        </p:spPr>
        <p:txBody>
          <a:bodyPr wrap="square" rtlCol="0" anchor="ctr"/>
          <a:lstStyle/>
          <a:p>
            <a:pPr indent="0" marL="0">
              <a:buNone/>
            </a:pPr>
            <a:r>
              <a:rPr lang="en-US" sz="1100" i="1" dirty="0">
                <a:solidFill>
                  <a:srgbClr val="9CA6C9"/>
                </a:solidFill>
                <a:latin typeface="Calibri" pitchFamily="34" charset="0"/>
                <a:ea typeface="Calibri" pitchFamily="34" charset="-122"/>
                <a:cs typeface="Calibri" pitchFamily="34" charset="-120"/>
              </a:rPr>
              <a:t>Presentation Design   ·   UI/UX   ·   Documentation   ·   Testing   ·   Demo Prep   ·   QA</a:t>
            </a:r>
            <a:endParaRPr lang="en-US" sz="1100" dirty="0"/>
          </a:p>
        </p:txBody>
      </p:sp>
      <p:sp>
        <p:nvSpPr>
          <p:cNvPr id="43" name="Text 30"/>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10 / 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554480"/>
            <a:ext cx="9144000" cy="118872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Thank You</a:t>
            </a:r>
            <a:endParaRPr lang="en-US" sz="6600" dirty="0"/>
          </a:p>
        </p:txBody>
      </p:sp>
      <p:sp>
        <p:nvSpPr>
          <p:cNvPr id="3" name="Text 1"/>
          <p:cNvSpPr/>
          <p:nvPr/>
        </p:nvSpPr>
        <p:spPr>
          <a:xfrm>
            <a:off x="822960" y="2606040"/>
            <a:ext cx="8686800" cy="502920"/>
          </a:xfrm>
          <a:prstGeom prst="rect">
            <a:avLst/>
          </a:prstGeom>
          <a:noFill/>
          <a:ln/>
        </p:spPr>
        <p:txBody>
          <a:bodyPr wrap="square" rtlCol="0" anchor="ctr"/>
          <a:lstStyle/>
          <a:p>
            <a:pPr indent="0" marL="0">
              <a:buNone/>
            </a:pPr>
            <a:r>
              <a:rPr lang="en-US" sz="1900" i="1" dirty="0">
                <a:solidFill>
                  <a:srgbClr val="C7CEE6"/>
                </a:solidFill>
                <a:latin typeface="Calibri" pitchFamily="34" charset="0"/>
                <a:ea typeface="Calibri" pitchFamily="34" charset="-122"/>
                <a:cs typeface="Calibri" pitchFamily="34" charset="-120"/>
              </a:rPr>
              <a:t>MentorOS — the mentor that remembers.</a:t>
            </a:r>
            <a:endParaRPr lang="en-US" sz="1900" dirty="0"/>
          </a:p>
        </p:txBody>
      </p:sp>
      <p:sp>
        <p:nvSpPr>
          <p:cNvPr id="4" name="Shape 2"/>
          <p:cNvSpPr/>
          <p:nvPr/>
        </p:nvSpPr>
        <p:spPr>
          <a:xfrm>
            <a:off x="822960" y="3657600"/>
            <a:ext cx="2551176" cy="1737360"/>
          </a:xfrm>
          <a:prstGeom prst="roundRect">
            <a:avLst>
              <a:gd name="adj" fmla="val 736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5" name="Image 0" descr="assets/ic_team.png">    </p:cNvPr>
          <p:cNvPicPr>
            <a:picLocks noChangeAspect="1"/>
          </p:cNvPicPr>
          <p:nvPr/>
        </p:nvPicPr>
        <p:blipFill>
          <a:blip r:embed="rId2"/>
          <a:stretch>
            <a:fillRect/>
          </a:stretch>
        </p:blipFill>
        <p:spPr>
          <a:xfrm>
            <a:off x="1755648" y="3886200"/>
            <a:ext cx="685800" cy="685800"/>
          </a:xfrm>
          <a:prstGeom prst="rect">
            <a:avLst/>
          </a:prstGeom>
        </p:spPr>
      </p:pic>
      <p:sp>
        <p:nvSpPr>
          <p:cNvPr id="6" name="Text 3"/>
          <p:cNvSpPr/>
          <p:nvPr/>
        </p:nvSpPr>
        <p:spPr>
          <a:xfrm>
            <a:off x="822960" y="4663440"/>
            <a:ext cx="2551176"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Team</a:t>
            </a:r>
            <a:endParaRPr lang="en-US" sz="1500" dirty="0"/>
          </a:p>
        </p:txBody>
      </p:sp>
      <p:sp>
        <p:nvSpPr>
          <p:cNvPr id="7" name="Shape 4"/>
          <p:cNvSpPr/>
          <p:nvPr/>
        </p:nvSpPr>
        <p:spPr>
          <a:xfrm>
            <a:off x="3593592" y="3657600"/>
            <a:ext cx="2551176" cy="1737360"/>
          </a:xfrm>
          <a:prstGeom prst="roundRect">
            <a:avLst>
              <a:gd name="adj" fmla="val 736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8" name="Image 1" descr="assets/ic_github.png">    </p:cNvPr>
          <p:cNvPicPr>
            <a:picLocks noChangeAspect="1"/>
          </p:cNvPicPr>
          <p:nvPr/>
        </p:nvPicPr>
        <p:blipFill>
          <a:blip r:embed="rId3"/>
          <a:stretch>
            <a:fillRect/>
          </a:stretch>
        </p:blipFill>
        <p:spPr>
          <a:xfrm>
            <a:off x="4526280" y="3886200"/>
            <a:ext cx="685800" cy="685800"/>
          </a:xfrm>
          <a:prstGeom prst="rect">
            <a:avLst/>
          </a:prstGeom>
        </p:spPr>
      </p:pic>
      <p:sp>
        <p:nvSpPr>
          <p:cNvPr id="9" name="Text 5"/>
          <p:cNvSpPr/>
          <p:nvPr/>
        </p:nvSpPr>
        <p:spPr>
          <a:xfrm>
            <a:off x="3593592" y="4663440"/>
            <a:ext cx="2551176"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a:t>
            </a:r>
            <a:endParaRPr lang="en-US" sz="1500" dirty="0"/>
          </a:p>
        </p:txBody>
      </p:sp>
      <p:sp>
        <p:nvSpPr>
          <p:cNvPr id="10" name="Shape 6"/>
          <p:cNvSpPr/>
          <p:nvPr/>
        </p:nvSpPr>
        <p:spPr>
          <a:xfrm>
            <a:off x="6364224" y="3657600"/>
            <a:ext cx="2551176" cy="1737360"/>
          </a:xfrm>
          <a:prstGeom prst="roundRect">
            <a:avLst>
              <a:gd name="adj" fmla="val 736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11" name="Image 2" descr="assets/ic_demo.png">    </p:cNvPr>
          <p:cNvPicPr>
            <a:picLocks noChangeAspect="1"/>
          </p:cNvPicPr>
          <p:nvPr/>
        </p:nvPicPr>
        <p:blipFill>
          <a:blip r:embed="rId4"/>
          <a:stretch>
            <a:fillRect/>
          </a:stretch>
        </p:blipFill>
        <p:spPr>
          <a:xfrm>
            <a:off x="7296912" y="3886200"/>
            <a:ext cx="685800" cy="685800"/>
          </a:xfrm>
          <a:prstGeom prst="rect">
            <a:avLst/>
          </a:prstGeom>
        </p:spPr>
      </p:pic>
      <p:sp>
        <p:nvSpPr>
          <p:cNvPr id="12" name="Text 7"/>
          <p:cNvSpPr/>
          <p:nvPr/>
        </p:nvSpPr>
        <p:spPr>
          <a:xfrm>
            <a:off x="6364224" y="4663440"/>
            <a:ext cx="2551176"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Live Demo</a:t>
            </a:r>
            <a:endParaRPr lang="en-US" sz="1500" dirty="0"/>
          </a:p>
        </p:txBody>
      </p:sp>
      <p:sp>
        <p:nvSpPr>
          <p:cNvPr id="13" name="Shape 8"/>
          <p:cNvSpPr/>
          <p:nvPr/>
        </p:nvSpPr>
        <p:spPr>
          <a:xfrm>
            <a:off x="9134856" y="3657600"/>
            <a:ext cx="2551176" cy="1737360"/>
          </a:xfrm>
          <a:prstGeom prst="roundRect">
            <a:avLst>
              <a:gd name="adj" fmla="val 7368"/>
            </a:avLst>
          </a:prstGeom>
          <a:solidFill>
            <a:srgbClr val="241854"/>
          </a:solidFill>
          <a:ln w="12700">
            <a:solidFill>
              <a:srgbClr val="4A3E8A"/>
            </a:solidFill>
            <a:prstDash val="solid"/>
          </a:ln>
          <a:effectLst>
            <a:outerShdw sx="100000" sy="100000" kx="0" ky="0" algn="bl" rotWithShape="0" blurRad="152400" dist="38100" dir="5400000">
              <a:srgbClr val="000000">
                <a:alpha val="35000"/>
              </a:srgbClr>
            </a:outerShdw>
          </a:effectLst>
        </p:spPr>
      </p:sp>
      <p:pic>
        <p:nvPicPr>
          <p:cNvPr id="14" name="Image 3" descr="assets/ic_qa.png">    </p:cNvPr>
          <p:cNvPicPr>
            <a:picLocks noChangeAspect="1"/>
          </p:cNvPicPr>
          <p:nvPr/>
        </p:nvPicPr>
        <p:blipFill>
          <a:blip r:embed="rId5"/>
          <a:stretch>
            <a:fillRect/>
          </a:stretch>
        </p:blipFill>
        <p:spPr>
          <a:xfrm>
            <a:off x="10067544" y="3886200"/>
            <a:ext cx="685800" cy="685800"/>
          </a:xfrm>
          <a:prstGeom prst="rect">
            <a:avLst/>
          </a:prstGeom>
        </p:spPr>
      </p:pic>
      <p:sp>
        <p:nvSpPr>
          <p:cNvPr id="15" name="Text 9"/>
          <p:cNvSpPr/>
          <p:nvPr/>
        </p:nvSpPr>
        <p:spPr>
          <a:xfrm>
            <a:off x="9134856" y="4663440"/>
            <a:ext cx="2551176"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Q&amp;A</a:t>
            </a:r>
            <a:endParaRPr lang="en-US" sz="1500" dirty="0"/>
          </a:p>
        </p:txBody>
      </p:sp>
      <p:sp>
        <p:nvSpPr>
          <p:cNvPr id="16" name="Text 10"/>
          <p:cNvSpPr/>
          <p:nvPr/>
        </p:nvSpPr>
        <p:spPr>
          <a:xfrm>
            <a:off x="11183112" y="6400800"/>
            <a:ext cx="822960" cy="320040"/>
          </a:xfrm>
          <a:prstGeom prst="rect">
            <a:avLst/>
          </a:prstGeom>
          <a:noFill/>
          <a:ln/>
        </p:spPr>
        <p:txBody>
          <a:bodyPr wrap="square" rtlCol="0" anchor="ctr"/>
          <a:lstStyle/>
          <a:p>
            <a:pPr algn="r" indent="0" marL="0">
              <a:buNone/>
            </a:pPr>
            <a:r>
              <a:rPr lang="en-US" sz="1000" dirty="0">
                <a:solidFill>
                  <a:srgbClr val="5A6491"/>
                </a:solidFill>
                <a:latin typeface="Calibri" pitchFamily="34" charset="0"/>
                <a:ea typeface="Calibri" pitchFamily="34" charset="-122"/>
                <a:cs typeface="Calibri" pitchFamily="34" charset="-120"/>
              </a:rPr>
              <a:t>11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2026-07-18T17:50:16Z</dcterms:created>
  <dcterms:modified xsi:type="dcterms:W3CDTF">2026-07-18T17:50:16Z</dcterms:modified>
</cp:coreProperties>
</file>